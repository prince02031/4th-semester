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dwyRT73+UYt6kcvY8a6zUxhhh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60A09E-C8FF-46B8-BF89-95B0885B882C}">
  <a:tblStyle styleId="{4360A09E-C8FF-46B8-BF89-95B0885B88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760CB3A-BF74-4EB8-84E5-27FC9F56732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Dynamic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Fibonacci Numbers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series: 0 1 1 2 3 5 8 13 21…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Fib(n) = Fib(n-1) + Fib(n-2)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simple recursive implementation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91" name="Google Shape;91;p2"/>
          <p:cNvGraphicFramePr/>
          <p:nvPr/>
        </p:nvGraphicFramePr>
        <p:xfrm>
          <a:off x="1142767" y="36304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fib(n - 1) + fib(n - 2);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Fibonacci Numbers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problem with the previous solution approach?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Something to do with complexity!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Fibonacci Numbers</a:t>
            </a:r>
            <a:endParaRPr/>
          </a:p>
        </p:txBody>
      </p:sp>
      <p:pic>
        <p:nvPicPr>
          <p:cNvPr descr="Text, letter&#10;&#10;Description automatically generated"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9726" y="2066925"/>
            <a:ext cx="6142619" cy="3163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Complexity (Recursive Solution)</a:t>
            </a:r>
            <a:endParaRPr/>
          </a:p>
        </p:txBody>
      </p:sp>
      <p:sp>
        <p:nvSpPr>
          <p:cNvPr id="109" name="Google Shape;109;p70"/>
          <p:cNvSpPr txBox="1"/>
          <p:nvPr>
            <p:ph idx="1" type="body"/>
          </p:nvPr>
        </p:nvSpPr>
        <p:spPr>
          <a:xfrm>
            <a:off x="838200" y="1690688"/>
            <a:ext cx="10515600" cy="4814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highest depth of the recursion tree will be 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a complete binary tree of height h, have 2^h – 1 node.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is an exponential runtime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Memoization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362269"/>
            <a:ext cx="10515600" cy="4814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Store the results of the subproblems (creating a table or memo)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Instead of computing the subproblems every time, if it is calculated before, lookup in the memo and return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5"/>
          <p:cNvGraphicFramePr/>
          <p:nvPr/>
        </p:nvGraphicFramePr>
        <p:xfrm>
          <a:off x="2694474" y="2874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5"/>
          <p:cNvSpPr txBox="1"/>
          <p:nvPr/>
        </p:nvSpPr>
        <p:spPr>
          <a:xfrm>
            <a:off x="1761435" y="2876183"/>
            <a:ext cx="790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5"/>
          <p:cNvGraphicFramePr/>
          <p:nvPr/>
        </p:nvGraphicFramePr>
        <p:xfrm>
          <a:off x="4437980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3468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if(memo[n] !=-1)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memo[n]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 = </a:t>
                      </a: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else res = fib(n - 1) + fib(n - 2);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memo[n] = res;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res;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Memoization (Top Down Approach)</a:t>
            </a:r>
            <a:endParaRPr/>
          </a:p>
        </p:txBody>
      </p:sp>
      <p:graphicFrame>
        <p:nvGraphicFramePr>
          <p:cNvPr id="124" name="Google Shape;124;p6"/>
          <p:cNvGraphicFramePr/>
          <p:nvPr/>
        </p:nvGraphicFramePr>
        <p:xfrm>
          <a:off x="2834434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6"/>
          <p:cNvSpPr txBox="1"/>
          <p:nvPr/>
        </p:nvSpPr>
        <p:spPr>
          <a:xfrm>
            <a:off x="1889731" y="1690688"/>
            <a:ext cx="790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6"/>
          <p:cNvGraphicFramePr/>
          <p:nvPr/>
        </p:nvGraphicFramePr>
        <p:xfrm>
          <a:off x="2834434" y="22760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7" name="Google Shape;127;p6"/>
          <p:cNvSpPr txBox="1"/>
          <p:nvPr/>
        </p:nvSpPr>
        <p:spPr>
          <a:xfrm>
            <a:off x="2050639" y="2276079"/>
            <a:ext cx="4655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4596600" y="31210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34687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if(set[n])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memo[n]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res = </a:t>
                      </a: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else res = fib(n - 1) + fib(n - 2);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memo[n] = res;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set[n] = 1;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res;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 (Tabulation)</a:t>
            </a:r>
            <a:endParaRPr/>
          </a:p>
        </p:txBody>
      </p:sp>
      <p:graphicFrame>
        <p:nvGraphicFramePr>
          <p:cNvPr id="134" name="Google Shape;134;p7"/>
          <p:cNvGraphicFramePr/>
          <p:nvPr/>
        </p:nvGraphicFramePr>
        <p:xfrm>
          <a:off x="2834434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7"/>
          <p:cNvSpPr txBox="1"/>
          <p:nvPr/>
        </p:nvSpPr>
        <p:spPr>
          <a:xfrm>
            <a:off x="1889731" y="1690688"/>
            <a:ext cx="790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6" name="Google Shape;136;p7"/>
          <p:cNvGraphicFramePr/>
          <p:nvPr/>
        </p:nvGraphicFramePr>
        <p:xfrm>
          <a:off x="3850424" y="30681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5279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= memo[n];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for(int i=2; i&lt;=n; i++)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memo[n] = memo[n-1]+ memo[n – 2];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memo[n];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 (Tabulation)</a:t>
            </a:r>
            <a:endParaRPr/>
          </a:p>
        </p:txBody>
      </p:sp>
      <p:graphicFrame>
        <p:nvGraphicFramePr>
          <p:cNvPr id="142" name="Google Shape;142;p8"/>
          <p:cNvGraphicFramePr/>
          <p:nvPr/>
        </p:nvGraphicFramePr>
        <p:xfrm>
          <a:off x="2834434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8"/>
          <p:cNvSpPr txBox="1"/>
          <p:nvPr/>
        </p:nvSpPr>
        <p:spPr>
          <a:xfrm>
            <a:off x="1889731" y="1690688"/>
            <a:ext cx="790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4" name="Google Shape;144;p8"/>
          <p:cNvGraphicFramePr/>
          <p:nvPr/>
        </p:nvGraphicFramePr>
        <p:xfrm>
          <a:off x="3893874" y="3223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5279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= memo[n];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for(int i=2; i&lt;=n; i++)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memo[n] = memo[n-1]+ memo[n – 2];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memo[n];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Bottom up approach (Tabulation)</a:t>
            </a:r>
            <a:endParaRPr/>
          </a:p>
        </p:txBody>
      </p:sp>
      <p:graphicFrame>
        <p:nvGraphicFramePr>
          <p:cNvPr id="150" name="Google Shape;150;p9"/>
          <p:cNvGraphicFramePr/>
          <p:nvPr/>
        </p:nvGraphicFramePr>
        <p:xfrm>
          <a:off x="2834434" y="16906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1">
                        <a:alpha val="72156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51;p9"/>
          <p:cNvSpPr txBox="1"/>
          <p:nvPr/>
        </p:nvSpPr>
        <p:spPr>
          <a:xfrm>
            <a:off x="1889731" y="1690688"/>
            <a:ext cx="7906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2" name="Google Shape;152;p9"/>
          <p:cNvGraphicFramePr/>
          <p:nvPr/>
        </p:nvGraphicFramePr>
        <p:xfrm>
          <a:off x="3297524" y="28609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5279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memo[0] = 0;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memo[1] = 1;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fib(int n)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&lt;= 1){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= memo[n];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for(int i=2; i&lt;=n; i++)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memo[n] = memo[n-1]+ memo[n – 2];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memo[n];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Complexity (DP)</a:t>
            </a:r>
            <a:endParaRPr/>
          </a:p>
        </p:txBody>
      </p:sp>
      <p:sp>
        <p:nvSpPr>
          <p:cNvPr id="158" name="Google Shape;158;p71"/>
          <p:cNvSpPr txBox="1"/>
          <p:nvPr>
            <p:ph idx="1" type="body"/>
          </p:nvPr>
        </p:nvSpPr>
        <p:spPr>
          <a:xfrm>
            <a:off x="838200" y="1788397"/>
            <a:ext cx="10515600" cy="48146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Fill-up the DP table by calculating each value only once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Total Time needed:</a:t>
            </a:r>
            <a:br>
              <a:rPr lang="en-US"/>
            </a:br>
            <a:r>
              <a:rPr lang="en-US"/>
              <a:t>N * Time required combine the pre-calculated 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For Fibonacci Problem: Combining takes constant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So overall Complexity: O(N)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/>
          </a:p>
        </p:txBody>
      </p:sp>
      <p:sp>
        <p:nvSpPr>
          <p:cNvPr id="164" name="Google Shape;164;p7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Given n friends, each one can remain single or can be paired up with some other friend.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Each friend can be paired only once.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Find out the total number of ways in which friends can remain single or can be paired up.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Sofia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Input  : n =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: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Explanation: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{1}, {2}, {3}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{1, 2}, {3} 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{2}, {1, 3}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{1}, {2, 3}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Sofia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Input  : n =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 : 10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Explanation: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77" name="Google Shape;177;p13"/>
          <p:cNvGraphicFramePr/>
          <p:nvPr/>
        </p:nvGraphicFramePr>
        <p:xfrm>
          <a:off x="990852" y="3535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{4360A09E-C8FF-46B8-BF89-95B0885B882C}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-228600" lvl="1" marL="685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When 4 remains alone: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{1}, {2}, {3} - {4}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{1, 2}, {3} - {4}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{2}, {1, 3} - {4}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{1}, {2, 3} - {4}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1" marL="685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When 4 paris with someone: (i.e 1)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{2}, {3} - {4,1}</a:t>
                      </a:r>
                      <a:endParaRPr/>
                    </a:p>
                    <a:p>
                      <a:pPr indent="-228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Char char="•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{2,3} - {4,1}</a:t>
                      </a:r>
                      <a:endParaRPr/>
                    </a:p>
                    <a:p>
                      <a:pPr indent="-101600" lvl="2" marL="11430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914400" marR="0" rtl="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How many options 4 have like this?</a:t>
                      </a:r>
                      <a:b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</a:b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Sofia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smaller sub problem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Sofia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Total number of ways to make friends with n people: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lang="en-US"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person may decide to remain single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			Or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lang="en-US"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/>
              <a:t> person may decide to pair up with remaining (n-1) person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For 1</a:t>
            </a:r>
            <a:r>
              <a:rPr baseline="30000" lang="en-US"/>
              <a:t>st</a:t>
            </a:r>
            <a:r>
              <a:rPr lang="en-US"/>
              <a:t> choice: Solution is same as solution for (n-1) person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US"/>
            </a:br>
            <a:r>
              <a:rPr lang="en-US"/>
              <a:t>For 2</a:t>
            </a:r>
            <a:r>
              <a:rPr baseline="30000" lang="en-US"/>
              <a:t>nd</a:t>
            </a:r>
            <a:r>
              <a:rPr lang="en-US"/>
              <a:t> choice: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lang="en-US"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/>
              <a:t> person will have  (n-1) choice to pair up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		    For each choice, there are remaining (n-2) people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4400"/>
              <a:buFont typeface="Sofia"/>
              <a:buNone/>
            </a:pPr>
            <a:r>
              <a:rPr i="0" lang="en-US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Friends Pairing Problem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smaller sub problem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f(n) = f(n – 1) + (n – 1) * f(n – 2)	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Complexity</a:t>
            </a:r>
            <a:endParaRPr/>
          </a:p>
        </p:txBody>
      </p:sp>
      <p:sp>
        <p:nvSpPr>
          <p:cNvPr id="201" name="Google Shape;201;p7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Similar to Fibonacci series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07" name="Google Shape;20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2x1 unlimited supply of tiles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Have to cover a 2xn sized board without overlapping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Calculate total ways we can tile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13" name="Google Shape;21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n = 3</a:t>
            </a:r>
            <a:endParaRPr/>
          </a:p>
        </p:txBody>
      </p:sp>
      <p:graphicFrame>
        <p:nvGraphicFramePr>
          <p:cNvPr id="214" name="Google Shape;214;p15"/>
          <p:cNvGraphicFramePr/>
          <p:nvPr/>
        </p:nvGraphicFramePr>
        <p:xfrm>
          <a:off x="928155" y="32595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1016000"/>
                <a:gridCol w="1016000"/>
                <a:gridCol w="1016000"/>
              </a:tblGrid>
              <a:tr h="78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78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" name="Google Shape;215;p15"/>
          <p:cNvGraphicFramePr/>
          <p:nvPr/>
        </p:nvGraphicFramePr>
        <p:xfrm>
          <a:off x="4285394" y="3280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1016000"/>
                <a:gridCol w="1016000"/>
                <a:gridCol w="1016000"/>
              </a:tblGrid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15"/>
          <p:cNvGraphicFramePr/>
          <p:nvPr/>
        </p:nvGraphicFramePr>
        <p:xfrm>
          <a:off x="7819597" y="32803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1016000"/>
                <a:gridCol w="1016000"/>
                <a:gridCol w="1016000"/>
              </a:tblGrid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77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22" name="Google Shape;222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n = 4</a:t>
            </a:r>
            <a:endParaRPr/>
          </a:p>
        </p:txBody>
      </p:sp>
      <p:graphicFrame>
        <p:nvGraphicFramePr>
          <p:cNvPr id="223" name="Google Shape;223;p16"/>
          <p:cNvGraphicFramePr/>
          <p:nvPr/>
        </p:nvGraphicFramePr>
        <p:xfrm>
          <a:off x="198482" y="2465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808275"/>
                <a:gridCol w="877450"/>
                <a:gridCol w="858975"/>
                <a:gridCol w="868225"/>
              </a:tblGrid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4" name="Google Shape;224;p16"/>
          <p:cNvGraphicFramePr/>
          <p:nvPr/>
        </p:nvGraphicFramePr>
        <p:xfrm>
          <a:off x="4435663" y="24579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808275"/>
                <a:gridCol w="877450"/>
                <a:gridCol w="858975"/>
                <a:gridCol w="868225"/>
              </a:tblGrid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5" name="Google Shape;225;p16"/>
          <p:cNvGraphicFramePr/>
          <p:nvPr/>
        </p:nvGraphicFramePr>
        <p:xfrm>
          <a:off x="8672845" y="2465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808275"/>
                <a:gridCol w="877450"/>
                <a:gridCol w="858975"/>
                <a:gridCol w="868225"/>
              </a:tblGrid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6" name="Google Shape;226;p16"/>
          <p:cNvGraphicFramePr/>
          <p:nvPr/>
        </p:nvGraphicFramePr>
        <p:xfrm>
          <a:off x="2253573" y="4633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808275"/>
                <a:gridCol w="877450"/>
                <a:gridCol w="858975"/>
                <a:gridCol w="868225"/>
              </a:tblGrid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Google Shape;227;p16"/>
          <p:cNvGraphicFramePr/>
          <p:nvPr/>
        </p:nvGraphicFramePr>
        <p:xfrm>
          <a:off x="6839277" y="4633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{7760CB3A-BF74-4EB8-84E5-27FC9F567325}</a:tableStyleId>
              </a:tblPr>
              <a:tblGrid>
                <a:gridCol w="808275"/>
                <a:gridCol w="877450"/>
                <a:gridCol w="858975"/>
                <a:gridCol w="868225"/>
              </a:tblGrid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D18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33" name="Google Shape;23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Recurrence relation?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39" name="Google Shape;23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First tile placed vertically: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Remaining size to tile?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First tile placed horizontally: (Another tile must be placed horizontally below):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Remaining size to tile 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Tiling Problem (V1)</a:t>
            </a:r>
            <a:endParaRPr/>
          </a:p>
        </p:txBody>
      </p:sp>
      <p:sp>
        <p:nvSpPr>
          <p:cNvPr id="245" name="Google Shape;24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First tile placed vertically: 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Remaining size to tile is n-1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First tile placed horizontally: (Another tile must be placed horizontally below):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Remaining size to tile: n-2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f(n) =  f(n-1) + f(n-2)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Performance Comparison</a:t>
            </a:r>
            <a:endParaRPr/>
          </a:p>
        </p:txBody>
      </p:sp>
      <p:pic>
        <p:nvPicPr>
          <p:cNvPr descr="A screenshot of a computer&#10;&#10;Description automatically generated" id="251" name="Google Shape;25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0038" y="2223506"/>
            <a:ext cx="2442645" cy="21618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 code&#10;&#10;Description automatically generated" id="252" name="Google Shape;25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3500" y="2223506"/>
            <a:ext cx="2553633" cy="216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5"/>
          <p:cNvSpPr txBox="1"/>
          <p:nvPr/>
        </p:nvSpPr>
        <p:spPr>
          <a:xfrm>
            <a:off x="2190800" y="4764316"/>
            <a:ext cx="12811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DP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5"/>
          <p:cNvSpPr txBox="1"/>
          <p:nvPr/>
        </p:nvSpPr>
        <p:spPr>
          <a:xfrm>
            <a:off x="6665523" y="4764316"/>
            <a:ext cx="15295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DP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2023-01-24T18:58:01Z</dcterms:created>
  <dc:creator>Md. Maniruzzaman, Assistant Professor, CSE</dc:creator>
</cp:coreProperties>
</file>