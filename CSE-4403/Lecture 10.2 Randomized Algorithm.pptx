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63" r:id="rId2"/>
    <p:sldId id="264" r:id="rId3"/>
    <p:sldId id="265" r:id="rId4"/>
    <p:sldId id="266" r:id="rId5"/>
    <p:sldId id="282" r:id="rId6"/>
    <p:sldId id="281" r:id="rId7"/>
    <p:sldId id="267" r:id="rId8"/>
    <p:sldId id="268" r:id="rId9"/>
    <p:sldId id="269" r:id="rId10"/>
    <p:sldId id="270" r:id="rId11"/>
    <p:sldId id="271" r:id="rId12"/>
    <p:sldId id="280" r:id="rId13"/>
    <p:sldId id="272" r:id="rId14"/>
    <p:sldId id="273" r:id="rId15"/>
    <p:sldId id="274" r:id="rId16"/>
    <p:sldId id="278" r:id="rId17"/>
    <p:sldId id="279" r:id="rId18"/>
    <p:sldId id="275" r:id="rId19"/>
    <p:sldId id="276" r:id="rId20"/>
    <p:sldId id="277" r:id="rId2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55ADC748-F01E-4E80-994E-F37C93A6AA67}">
          <p14:sldIdLst>
            <p14:sldId id="263"/>
            <p14:sldId id="264"/>
            <p14:sldId id="265"/>
            <p14:sldId id="266"/>
            <p14:sldId id="282"/>
            <p14:sldId id="281"/>
            <p14:sldId id="267"/>
            <p14:sldId id="268"/>
            <p14:sldId id="269"/>
            <p14:sldId id="270"/>
            <p14:sldId id="271"/>
          </p14:sldIdLst>
        </p14:section>
        <p14:section name="Untitled Section" id="{D8DCB739-7339-479A-B3FC-F00C35802CA7}">
          <p14:sldIdLst>
            <p14:sldId id="280"/>
            <p14:sldId id="272"/>
            <p14:sldId id="273"/>
            <p14:sldId id="274"/>
            <p14:sldId id="278"/>
            <p14:sldId id="279"/>
            <p14:sldId id="275"/>
            <p14:sldId id="276"/>
            <p14:sldId id="277"/>
          </p14:sldIdLst>
        </p14:section>
      </p14:sectionLst>
    </p:ex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gYktUjDZu59UUlhvmPTxzKDgwpX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6" name="Google Shape;12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C810E345-4F03-9BC8-BE4E-78552858E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124FB84F-7FF8-A255-326F-77B78E498C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3BC724D4-6F72-4645-1DB8-EE87ABC0097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61172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>
          <a:extLst>
            <a:ext uri="{FF2B5EF4-FFF2-40B4-BE49-F238E27FC236}">
              <a16:creationId xmlns:a16="http://schemas.microsoft.com/office/drawing/2014/main" id="{A60ED0EB-5C15-BB5A-641B-022D2FB65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>
            <a:extLst>
              <a:ext uri="{FF2B5EF4-FFF2-40B4-BE49-F238E27FC236}">
                <a16:creationId xmlns:a16="http://schemas.microsoft.com/office/drawing/2014/main" id="{2756B6CB-0DB1-CCC9-3D07-6D29F21FFA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4:notes">
            <a:extLst>
              <a:ext uri="{FF2B5EF4-FFF2-40B4-BE49-F238E27FC236}">
                <a16:creationId xmlns:a16="http://schemas.microsoft.com/office/drawing/2014/main" id="{4A714A2C-876B-C7C2-CA73-2D8B7EC25DF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20036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6" name="Google Shape;15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62126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2" name="Google Shape;18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4" name="Google Shape;19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8" name="Google Shape;21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4" name="Google Shape;22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055797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6" name="Google Shape;20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528790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2" name="Google Shape;212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2714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Randomized Algorithm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Randomized Algorithm</a:t>
            </a:r>
            <a:endParaRPr/>
          </a:p>
        </p:txBody>
      </p:sp>
      <p:sp>
        <p:nvSpPr>
          <p:cNvPr id="134" name="Google Shape;134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Generates a random number, r </a:t>
            </a:r>
            <a:r>
              <a:rPr lang="en-US" b="0" i="0" dirty="0">
                <a:solidFill>
                  <a:srgbClr val="202124"/>
                </a:solidFill>
                <a:latin typeface="arial"/>
                <a:ea typeface="arial"/>
                <a:cs typeface="arial"/>
                <a:sym typeface="arial"/>
              </a:rPr>
              <a:t>∈ (</a:t>
            </a:r>
            <a:r>
              <a:rPr lang="en-US" dirty="0"/>
              <a:t>1,…,R)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Make decisions based on r’s value</a:t>
            </a:r>
            <a:endParaRPr dirty="0"/>
          </a:p>
          <a:p>
            <a:pPr marL="228600" indent="-228600">
              <a:buSzPts val="2800"/>
            </a:pPr>
            <a:r>
              <a:rPr lang="en-US" dirty="0"/>
              <a:t>Recursive Algorithm</a:t>
            </a:r>
            <a:endParaRPr dirty="0"/>
          </a:p>
          <a:p>
            <a:pPr marL="228600" indent="-228600">
              <a:buSzPts val="2800"/>
            </a:pPr>
            <a:r>
              <a:rPr lang="en-US" dirty="0"/>
              <a:t>Generate r in every level of recursion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Examples	</a:t>
            </a:r>
            <a:endParaRPr/>
          </a:p>
        </p:txBody>
      </p:sp>
      <p:sp>
        <p:nvSpPr>
          <p:cNvPr id="140" name="Google Shape;140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Monte Carlo Simulation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Las Vegas Algorithm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Atlantic City Algorithm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Origin of Monte Carlo Simulation</a:t>
            </a:r>
            <a:endParaRPr dirty="0"/>
          </a:p>
        </p:txBody>
      </p:sp>
      <p:sp>
        <p:nvSpPr>
          <p:cNvPr id="146" name="Google Shape;146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What is the probability to get an even number from a random throw of dice?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We can find the solution if the sample space is small and formulate the solution easily.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 this case, possible sample space is 6, and when the outcome is 2,4 or 6, it satisfies the requirement. So, the result is : 3/6 = .5 (50%)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EDF86F1D-7A19-36E0-1877-623163475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87B103F6-C0B5-71F4-3E58-DDC40C00A0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Origin of Monte Carlo Simulation</a:t>
            </a:r>
            <a:endParaRPr dirty="0"/>
          </a:p>
        </p:txBody>
      </p:sp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57673E32-A569-0D06-A805-F65A305BED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r>
              <a:rPr lang="en-US" dirty="0"/>
              <a:t>Stanisław Ulam, thought about this at first, during his treatment.</a:t>
            </a:r>
          </a:p>
          <a:p>
            <a:r>
              <a:rPr lang="en-US" dirty="0"/>
              <a:t>What is probability of solving a solitaire game from a random shuffled deck?</a:t>
            </a:r>
            <a:br>
              <a:rPr lang="en-US" dirty="0"/>
            </a:br>
            <a:r>
              <a:rPr lang="en-US" dirty="0"/>
              <a:t>Number of shuffle? 52! ≈ 10^68</a:t>
            </a:r>
          </a:p>
          <a:p>
            <a:endParaRPr lang="en-US" dirty="0"/>
          </a:p>
          <a:p>
            <a:r>
              <a:rPr lang="en-US" dirty="0"/>
              <a:t>If every person (around 10 billion): ≈  10^10</a:t>
            </a:r>
          </a:p>
          <a:p>
            <a:r>
              <a:rPr lang="en-US" dirty="0"/>
              <a:t>Seconds since big bang: (13.8 billion years): ≈  10^17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US" dirty="0"/>
              <a:t>Rather than finding the exact number: simulate a number games and find the number of wins, to get an approximation.</a:t>
            </a:r>
          </a:p>
        </p:txBody>
      </p:sp>
    </p:spTree>
    <p:extLst>
      <p:ext uri="{BB962C8B-B14F-4D97-AF65-F5344CB8AC3E}">
        <p14:creationId xmlns:p14="http://schemas.microsoft.com/office/powerpoint/2010/main" val="23044574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>
          <a:extLst>
            <a:ext uri="{FF2B5EF4-FFF2-40B4-BE49-F238E27FC236}">
              <a16:creationId xmlns:a16="http://schemas.microsoft.com/office/drawing/2014/main" id="{D99B6045-59F6-83A3-6226-695B412D0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>
            <a:extLst>
              <a:ext uri="{FF2B5EF4-FFF2-40B4-BE49-F238E27FC236}">
                <a16:creationId xmlns:a16="http://schemas.microsoft.com/office/drawing/2014/main" id="{00321D2D-CA06-889F-9707-2DB9F974F0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Monte Carlo Algorithm</a:t>
            </a:r>
            <a:endParaRPr/>
          </a:p>
        </p:txBody>
      </p:sp>
      <p:sp>
        <p:nvSpPr>
          <p:cNvPr id="146" name="Google Shape;146;p4">
            <a:extLst>
              <a:ext uri="{FF2B5EF4-FFF2-40B4-BE49-F238E27FC236}">
                <a16:creationId xmlns:a16="http://schemas.microsoft.com/office/drawing/2014/main" id="{80AE949B-7B7F-53A1-D747-AAB310EA7E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Approximate PI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Finding expected number of rounds for a game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8833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Approximation of PI</a:t>
            </a:r>
            <a:endParaRPr/>
          </a:p>
        </p:txBody>
      </p:sp>
      <p:sp>
        <p:nvSpPr>
          <p:cNvPr id="152" name="Google Shape;152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Geometric approach: Find the area of a circle having r radius and find the area of a square having 2r as the length of one side.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The ratio x = 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PI = 4*x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153" name="Google Shape;153;p5" descr="A picture containing text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75541" y="3095578"/>
            <a:ext cx="600159" cy="666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000" dirty="0"/>
              <a:t>Approximation of PI (Monte Carlo Simulation)</a:t>
            </a:r>
            <a:endParaRPr sz="4000" dirty="0"/>
          </a:p>
        </p:txBody>
      </p:sp>
      <p:sp>
        <p:nvSpPr>
          <p:cNvPr id="159" name="Google Shape;159;p6"/>
          <p:cNvSpPr txBox="1">
            <a:spLocks noGrp="1"/>
          </p:cNvSpPr>
          <p:nvPr>
            <p:ph type="body" idx="1"/>
          </p:nvPr>
        </p:nvSpPr>
        <p:spPr>
          <a:xfrm>
            <a:off x="838200" y="1825624"/>
            <a:ext cx="10515600" cy="473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Using randomization: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Run a loop for a significant large number T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Set a counter C = 0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For each iteration: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Generate two </a:t>
            </a:r>
            <a:r>
              <a:rPr lang="en-US" b="1" dirty="0"/>
              <a:t>random numbers </a:t>
            </a:r>
            <a:r>
              <a:rPr lang="en-US" dirty="0"/>
              <a:t>(x, y) in the range of [-1, 1]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If </a:t>
            </a:r>
            <a:r>
              <a:rPr lang="en-US" sz="2000" dirty="0"/>
              <a:t>x</a:t>
            </a:r>
            <a:r>
              <a:rPr lang="en-US" sz="2000" i="1" baseline="30000" dirty="0"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sz="2000" i="1" dirty="0">
                <a:latin typeface="Calibri"/>
                <a:ea typeface="Calibri"/>
                <a:cs typeface="Calibri"/>
                <a:sym typeface="Calibri"/>
              </a:rPr>
              <a:t>+ y</a:t>
            </a:r>
            <a:r>
              <a:rPr lang="en-US" sz="2000" i="1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i="1" dirty="0">
                <a:latin typeface="Calibri"/>
                <a:ea typeface="Calibri"/>
                <a:cs typeface="Calibri"/>
                <a:sym typeface="Calibri"/>
              </a:rPr>
              <a:t> &lt;= 1 , then C++ </a:t>
            </a:r>
          </a:p>
          <a:p>
            <a:pPr marL="457200" lvl="1" indent="0">
              <a:buSzPts val="2400"/>
              <a:buNone/>
            </a:pP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(If the center of the circle at 0,0, then:</a:t>
            </a:r>
          </a:p>
          <a:p>
            <a:pPr marL="457200" lvl="1" indent="0">
              <a:buSzPts val="2400"/>
              <a:buNone/>
            </a:pPr>
            <a:r>
              <a:rPr lang="en-US" sz="2000" dirty="0"/>
              <a:t>D</a:t>
            </a:r>
            <a:r>
              <a:rPr lang="en-US" sz="2000" dirty="0">
                <a:latin typeface="Calibri"/>
                <a:ea typeface="Calibri"/>
                <a:cs typeface="Calibri"/>
                <a:sym typeface="Calibri"/>
              </a:rPr>
              <a:t>istance of a point from the center = sqrt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[(</a:t>
            </a:r>
            <a:r>
              <a:rPr lang="en-US" sz="1800" dirty="0"/>
              <a:t>x-0)</a:t>
            </a:r>
            <a:r>
              <a:rPr lang="en-US" sz="1800" baseline="30000" dirty="0"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+ (y-0)</a:t>
            </a:r>
            <a:r>
              <a:rPr lang="en-US" sz="1800" baseline="30000" dirty="0"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2000" baseline="30000" dirty="0"/>
              <a:t> </a:t>
            </a:r>
            <a:r>
              <a:rPr lang="en-US" sz="1800" dirty="0">
                <a:latin typeface="Calibri"/>
                <a:ea typeface="Calibri"/>
                <a:cs typeface="Calibri"/>
                <a:sym typeface="Calibri"/>
              </a:rPr>
              <a:t>]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pic>
        <p:nvPicPr>
          <p:cNvPr id="160" name="Google Shape;160;p6" descr="Text, letter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5470" y="5323905"/>
            <a:ext cx="2229161" cy="9335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Expected round of games</a:t>
            </a:r>
            <a:endParaRPr/>
          </a:p>
        </p:txBody>
      </p:sp>
      <p:sp>
        <p:nvSpPr>
          <p:cNvPr id="166" name="Google Shape;166;p3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429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dirty="0"/>
              <a:t>Finding expected number rounds for a game, where the game ends if you loose 2 consecutive games. Given the win probability of a game is p, and p does not depend on previous outcome</a:t>
            </a:r>
            <a:endParaRPr dirty="0"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Expected value</a:t>
            </a:r>
            <a:endParaRPr/>
          </a:p>
        </p:txBody>
      </p:sp>
      <p:sp>
        <p:nvSpPr>
          <p:cNvPr id="172" name="Google Shape;172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228600" lvl="0" indent="-127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  <a:p>
            <a:pPr marL="228600" lvl="0" indent="-127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  <a:p>
            <a:pPr marL="228600" lvl="0" indent="-127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EV (Project A) = [0.4 × $2,000,000] + [0.6 × $500,000] = $1,100,000</a:t>
            </a:r>
            <a:endParaRPr/>
          </a:p>
          <a:p>
            <a:pPr marL="228600" lvl="0" indent="-127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160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</a:pPr>
            <a:r>
              <a:rPr lang="en-US" sz="1600"/>
              <a:t>EV (Project B) = [0.3 × $3,000,000] + [0.7 × $200,000] = $1,040,000</a:t>
            </a:r>
            <a:endParaRPr/>
          </a:p>
        </p:txBody>
      </p:sp>
      <p:pic>
        <p:nvPicPr>
          <p:cNvPr id="173" name="Google Shape;173;p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98051" y="1976722"/>
            <a:ext cx="3038899" cy="1028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Round of games</a:t>
            </a:r>
            <a:endParaRPr/>
          </a:p>
        </p:txBody>
      </p:sp>
      <p:sp>
        <p:nvSpPr>
          <p:cNvPr id="179" name="Google Shape;17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E = (1+E)*p + 2*(1-p)(1-p) + (2+E)*(1-p)*p</a:t>
            </a:r>
            <a:endParaRPr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E  = (2 – P)/ (1-p)^2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Round of games (Explanation)</a:t>
            </a:r>
            <a:endParaRPr dirty="0"/>
          </a:p>
        </p:txBody>
      </p:sp>
      <p:sp>
        <p:nvSpPr>
          <p:cNvPr id="179" name="Google Shape;179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2 Possible Scenarios for the first game:</a:t>
            </a:r>
            <a:br>
              <a:rPr lang="en-US" dirty="0"/>
            </a:br>
            <a:r>
              <a:rPr lang="en-US" dirty="0"/>
              <a:t>	First game W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	First game L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For first game W, rest the of games are not affected, so total number of rounds will be: 1 + E. (</a:t>
            </a:r>
            <a:r>
              <a:rPr lang="en-US" dirty="0" err="1"/>
              <a:t>Probablity</a:t>
            </a:r>
            <a:r>
              <a:rPr lang="en-US" dirty="0"/>
              <a:t>: p)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If first game is L, then next game maybe W or L.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If 2nd game is also an L, then total number of rounds is: 2 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(</a:t>
            </a:r>
            <a:r>
              <a:rPr lang="en-US" dirty="0" err="1"/>
              <a:t>Probablity</a:t>
            </a:r>
            <a:r>
              <a:rPr lang="en-US" dirty="0"/>
              <a:t>: (1-p)*(1-p)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If 2nd game is a W, then the total number of rounds will be 2 + E.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(</a:t>
            </a:r>
            <a:r>
              <a:rPr lang="en-US" dirty="0" err="1"/>
              <a:t>Probablity</a:t>
            </a:r>
            <a:r>
              <a:rPr lang="en-US" dirty="0"/>
              <a:t>: (1-p)*p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3118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Round of games (Monte Carlo)</a:t>
            </a:r>
            <a:endParaRPr/>
          </a:p>
        </p:txBody>
      </p:sp>
      <p:sp>
        <p:nvSpPr>
          <p:cNvPr id="185" name="Google Shape;185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Run the simulation for a large number N</a:t>
            </a:r>
            <a:endParaRPr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For each run: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Set two counters, </a:t>
            </a:r>
            <a:r>
              <a:rPr lang="en-US" dirty="0" err="1"/>
              <a:t>nloss</a:t>
            </a:r>
            <a:r>
              <a:rPr lang="en-US" dirty="0"/>
              <a:t> = 0, </a:t>
            </a:r>
            <a:r>
              <a:rPr lang="en-US" dirty="0" err="1"/>
              <a:t>nround</a:t>
            </a:r>
            <a:r>
              <a:rPr lang="en-US" dirty="0"/>
              <a:t> = 0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While (</a:t>
            </a:r>
            <a:r>
              <a:rPr lang="en-US" dirty="0" err="1"/>
              <a:t>nloss</a:t>
            </a:r>
            <a:r>
              <a:rPr lang="en-US" dirty="0"/>
              <a:t> != 2):</a:t>
            </a:r>
            <a:endParaRPr dirty="0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 err="1"/>
              <a:t>nround</a:t>
            </a:r>
            <a:r>
              <a:rPr lang="en-US" dirty="0"/>
              <a:t> ++</a:t>
            </a:r>
            <a:endParaRPr dirty="0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Generate a </a:t>
            </a:r>
            <a:r>
              <a:rPr lang="en-US" b="1" dirty="0"/>
              <a:t>random number </a:t>
            </a:r>
            <a:r>
              <a:rPr lang="en-US" dirty="0"/>
              <a:t>r [0 to 1]</a:t>
            </a:r>
            <a:endParaRPr dirty="0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if r &gt; p:</a:t>
            </a:r>
            <a:endParaRPr dirty="0"/>
          </a:p>
          <a:p>
            <a:pPr marL="137160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 err="1"/>
              <a:t>nloss</a:t>
            </a:r>
            <a:r>
              <a:rPr lang="en-US" dirty="0"/>
              <a:t>++</a:t>
            </a:r>
            <a:endParaRPr dirty="0"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else</a:t>
            </a:r>
            <a:endParaRPr dirty="0"/>
          </a:p>
          <a:p>
            <a:pPr marL="137160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 err="1"/>
              <a:t>nloss</a:t>
            </a:r>
            <a:r>
              <a:rPr lang="en-US" dirty="0"/>
              <a:t> = 0</a:t>
            </a:r>
            <a:endParaRPr dirty="0"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Save </a:t>
            </a:r>
            <a:r>
              <a:rPr lang="en-US" dirty="0" err="1"/>
              <a:t>nround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/>
              <a:t>Find the average </a:t>
            </a:r>
            <a:r>
              <a:rPr lang="en-US" dirty="0" err="1"/>
              <a:t>nround</a:t>
            </a:r>
            <a:endParaRPr dirty="0"/>
          </a:p>
          <a:p>
            <a:pPr marL="137160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/>
              <a:t>			</a:t>
            </a:r>
            <a:endParaRPr dirty="0"/>
          </a:p>
          <a:p>
            <a:pPr marL="685800" lvl="1" indent="-8763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Pros and Cons of Monte Carlo</a:t>
            </a:r>
            <a:endParaRPr dirty="0"/>
          </a:p>
        </p:txBody>
      </p:sp>
      <p:sp>
        <p:nvSpPr>
          <p:cNvPr id="191" name="Google Shape;191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>
                <a:solidFill>
                  <a:srgbClr val="548135"/>
                </a:solidFill>
              </a:rPr>
              <a:t>Analytical solution might be tricky and need in-depth knowledge of the problem domain, MC does not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>
                <a:solidFill>
                  <a:srgbClr val="548135"/>
                </a:solidFill>
              </a:rPr>
              <a:t>Less time to get the solution (most of the time)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None/>
            </a:pP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None/>
            </a:pP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>
                <a:solidFill>
                  <a:srgbClr val="FF0000"/>
                </a:solidFill>
              </a:rPr>
              <a:t>Solution design might be quick, but run time might be very high (round of games having winning probability closer to 1)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>
                <a:solidFill>
                  <a:srgbClr val="FF0000"/>
                </a:solidFill>
              </a:rPr>
              <a:t>No insight about the solution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>
                <a:solidFill>
                  <a:srgbClr val="FF0000"/>
                </a:solidFill>
              </a:rPr>
              <a:t>Reusing the solution for different value needs re-run</a:t>
            </a:r>
            <a:endParaRPr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69498"/>
              <a:buChar char="•"/>
            </a:pPr>
            <a:r>
              <a:rPr lang="en-US">
                <a:solidFill>
                  <a:srgbClr val="FF0000"/>
                </a:solidFill>
              </a:rPr>
              <a:t>Generalization might not be true always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Las Vegas Algorithm</a:t>
            </a:r>
            <a:endParaRPr/>
          </a:p>
        </p:txBody>
      </p:sp>
      <p:sp>
        <p:nvSpPr>
          <p:cNvPr id="197" name="Google Shape;197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Guaranteed to get the result or does not find at all</a:t>
            </a:r>
            <a:endParaRPr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dirty="0"/>
              <a:t>Example:</a:t>
            </a:r>
            <a:endParaRPr dirty="0"/>
          </a:p>
          <a:p>
            <a:pPr marL="685800" lvl="1" indent="-228600">
              <a:buSzPts val="2400"/>
            </a:pPr>
            <a:r>
              <a:rPr lang="en-US" dirty="0"/>
              <a:t>8 Queen problem</a:t>
            </a: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dirty="0"/>
              <a:t>Randomized Quick Sort</a:t>
            </a:r>
          </a:p>
          <a:p>
            <a:pPr marL="1371600" lvl="3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dirty="0"/>
              <a:t>			</a:t>
            </a:r>
            <a:endParaRPr dirty="0"/>
          </a:p>
          <a:p>
            <a:pPr marL="685800" lvl="1" indent="-76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8 Queen Problem</a:t>
            </a:r>
            <a:endParaRPr/>
          </a:p>
        </p:txBody>
      </p:sp>
      <p:sp>
        <p:nvSpPr>
          <p:cNvPr id="221" name="Google Shape;221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For 1 ≤ k ≤ 8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Find all possible valid location for the queen in the row k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no location found, report fail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more than one location found, choose one at random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If k == 8, return solution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Comparison	</a:t>
            </a:r>
            <a:endParaRPr/>
          </a:p>
        </p:txBody>
      </p:sp>
      <p:sp>
        <p:nvSpPr>
          <p:cNvPr id="227" name="Google Shape;227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Monte Carlo algorithm: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Deterministic runtime (Fixed runtime)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Expected output (probably correct)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Las Vegas algorithm: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Deterministic output (Always correct)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Expected runtime (probably faster)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Atlantic City algorithm: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Probably faster</a:t>
            </a:r>
            <a:endParaRPr/>
          </a:p>
          <a:p>
            <a:pPr marL="685800" lvl="1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Probably correct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dirty="0"/>
              <a:t>Quick Sort</a:t>
            </a:r>
            <a:endParaRPr dirty="0"/>
          </a:p>
        </p:txBody>
      </p:sp>
      <p:sp>
        <p:nvSpPr>
          <p:cNvPr id="203" name="Google Shape;203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endParaRPr sz="1900">
              <a:latin typeface="Courier New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Courier New"/>
                <a:ea typeface="Courier New"/>
                <a:cs typeface="Courier New"/>
                <a:sym typeface="Courier New"/>
              </a:rPr>
              <a:t>quickSort(arr[], low, high)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Courier New"/>
                <a:ea typeface="Courier New"/>
                <a:cs typeface="Courier New"/>
                <a:sym typeface="Courier New"/>
              </a:rPr>
              <a:t>    if (low &lt; high)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/>
          </a:p>
          <a:p>
            <a:pPr marL="914400" lvl="2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Courier New"/>
                <a:ea typeface="Courier New"/>
                <a:cs typeface="Courier New"/>
                <a:sym typeface="Courier New"/>
              </a:rPr>
              <a:t>	pi = partition(arr, low, high);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Courier New"/>
                <a:ea typeface="Courier New"/>
                <a:cs typeface="Courier New"/>
                <a:sym typeface="Courier New"/>
              </a:rPr>
              <a:t>        	quickSort(arr, low, pi - 1);  // Before pi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Courier New"/>
                <a:ea typeface="Courier New"/>
                <a:cs typeface="Courier New"/>
                <a:sym typeface="Courier New"/>
              </a:rPr>
              <a:t>        	quickSort(arr, pi + 1, high); // After pi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74565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Quick Sort</a:t>
            </a:r>
            <a:endParaRPr/>
          </a:p>
        </p:txBody>
      </p:sp>
      <p:sp>
        <p:nvSpPr>
          <p:cNvPr id="209" name="Google Shape;20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Courier New"/>
                <a:ea typeface="Courier New"/>
                <a:cs typeface="Courier New"/>
                <a:sym typeface="Courier New"/>
              </a:rPr>
              <a:t>partition (arr[], low, high)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Courier New"/>
                <a:ea typeface="Courier New"/>
                <a:cs typeface="Courier New"/>
                <a:sym typeface="Courier New"/>
              </a:rPr>
              <a:t>	pivot = arr[high]; // Could be any random location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Courier New"/>
                <a:ea typeface="Courier New"/>
                <a:cs typeface="Courier New"/>
                <a:sym typeface="Courier New"/>
              </a:rPr>
              <a:t>    	i = low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   for (j = low; j &lt;= high- 1; j++)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		if (arr[j] &lt; pivot)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       	{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           	swap arr[i] and arr[j]; 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			i++;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       	}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   swap arr[i] and arr[high])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    return i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786956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Randomized quick sort</a:t>
            </a:r>
            <a:endParaRPr/>
          </a:p>
        </p:txBody>
      </p:sp>
      <p:sp>
        <p:nvSpPr>
          <p:cNvPr id="215" name="Google Shape;215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Courier New"/>
                <a:ea typeface="Courier New"/>
                <a:cs typeface="Courier New"/>
                <a:sym typeface="Courier New"/>
              </a:rPr>
              <a:t>partition_r (arr[], low, high)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Courier New"/>
                <a:ea typeface="Courier New"/>
                <a:cs typeface="Courier New"/>
                <a:sym typeface="Courier New"/>
              </a:rPr>
              <a:t>	r = random value between low to high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Courier New"/>
                <a:ea typeface="Courier New"/>
                <a:cs typeface="Courier New"/>
                <a:sym typeface="Courier New"/>
              </a:rPr>
              <a:t>    	swap arr[r] and arr[high]</a:t>
            </a:r>
            <a:endParaRPr/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latin typeface="Courier New"/>
                <a:ea typeface="Courier New"/>
                <a:cs typeface="Courier New"/>
                <a:sym typeface="Courier New"/>
              </a:rPr>
              <a:t>	return partition(arr, low, high)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521896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1050</Words>
  <Application>Microsoft Office PowerPoint</Application>
  <PresentationFormat>Widescreen</PresentationFormat>
  <Paragraphs>146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Arial</vt:lpstr>
      <vt:lpstr>Calibri</vt:lpstr>
      <vt:lpstr>Courier New</vt:lpstr>
      <vt:lpstr>Office Theme</vt:lpstr>
      <vt:lpstr>Randomized Algorithm</vt:lpstr>
      <vt:lpstr>Randomized Algorithm</vt:lpstr>
      <vt:lpstr>Examples </vt:lpstr>
      <vt:lpstr>Origin of Monte Carlo Simulation</vt:lpstr>
      <vt:lpstr>Origin of Monte Carlo Simulation</vt:lpstr>
      <vt:lpstr>Monte Carlo Algorithm</vt:lpstr>
      <vt:lpstr>Approximation of PI</vt:lpstr>
      <vt:lpstr>Approximation of PI (Monte Carlo Simulation)</vt:lpstr>
      <vt:lpstr>Expected round of games</vt:lpstr>
      <vt:lpstr>Expected value</vt:lpstr>
      <vt:lpstr>Round of games</vt:lpstr>
      <vt:lpstr>Round of games (Explanation)</vt:lpstr>
      <vt:lpstr>Round of games (Monte Carlo)</vt:lpstr>
      <vt:lpstr>Pros and Cons of Monte Carlo</vt:lpstr>
      <vt:lpstr>Las Vegas Algorithm</vt:lpstr>
      <vt:lpstr>8 Queen Problem</vt:lpstr>
      <vt:lpstr>Comparison </vt:lpstr>
      <vt:lpstr>Quick Sort</vt:lpstr>
      <vt:lpstr>Quick Sort</vt:lpstr>
      <vt:lpstr>Randomized quick sort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12.1</dc:title>
  <dc:creator>Md Moniruzzaman, Assistant Professor,CSE</dc:creator>
  <cp:lastModifiedBy>Md. Maniruzzaman, Assistant Professor, CSE</cp:lastModifiedBy>
  <cp:revision>12</cp:revision>
  <dcterms:created xsi:type="dcterms:W3CDTF">2022-03-06T16:37:50Z</dcterms:created>
  <dcterms:modified xsi:type="dcterms:W3CDTF">2025-07-28T21:42:35Z</dcterms:modified>
</cp:coreProperties>
</file>