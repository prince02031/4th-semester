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5" r:id="rId3"/>
    <p:sldId id="293" r:id="rId4"/>
    <p:sldId id="294" r:id="rId5"/>
    <p:sldId id="286" r:id="rId6"/>
    <p:sldId id="288" r:id="rId7"/>
    <p:sldId id="295" r:id="rId8"/>
    <p:sldId id="289" r:id="rId9"/>
    <p:sldId id="291" r:id="rId10"/>
    <p:sldId id="290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Maniruzzaman, Assistant Professor, CSE" userId="835fe6b2-0e58-48f8-8fcd-be004cf90b0c" providerId="ADAL" clId="{9B2F8976-62D1-4C73-AEED-3DC03594CE72}"/>
    <pc:docChg chg="delSld">
      <pc:chgData name="Md. Maniruzzaman, Assistant Professor, CSE" userId="835fe6b2-0e58-48f8-8fcd-be004cf90b0c" providerId="ADAL" clId="{9B2F8976-62D1-4C73-AEED-3DC03594CE72}" dt="2023-02-28T15:43:04.560" v="0" actId="47"/>
      <pc:docMkLst>
        <pc:docMk/>
      </pc:docMkLst>
      <pc:sldChg chg="del">
        <pc:chgData name="Md. Maniruzzaman, Assistant Professor, CSE" userId="835fe6b2-0e58-48f8-8fcd-be004cf90b0c" providerId="ADAL" clId="{9B2F8976-62D1-4C73-AEED-3DC03594CE72}" dt="2023-02-28T15:43:04.560" v="0" actId="47"/>
        <pc:sldMkLst>
          <pc:docMk/>
          <pc:sldMk cId="344610944" sldId="257"/>
        </pc:sldMkLst>
      </pc:sldChg>
      <pc:sldChg chg="del">
        <pc:chgData name="Md. Maniruzzaman, Assistant Professor, CSE" userId="835fe6b2-0e58-48f8-8fcd-be004cf90b0c" providerId="ADAL" clId="{9B2F8976-62D1-4C73-AEED-3DC03594CE72}" dt="2023-02-28T15:43:04.560" v="0" actId="47"/>
        <pc:sldMkLst>
          <pc:docMk/>
          <pc:sldMk cId="1167263320" sldId="258"/>
        </pc:sldMkLst>
      </pc:sldChg>
      <pc:sldChg chg="del">
        <pc:chgData name="Md. Maniruzzaman, Assistant Professor, CSE" userId="835fe6b2-0e58-48f8-8fcd-be004cf90b0c" providerId="ADAL" clId="{9B2F8976-62D1-4C73-AEED-3DC03594CE72}" dt="2023-02-28T15:43:04.560" v="0" actId="47"/>
        <pc:sldMkLst>
          <pc:docMk/>
          <pc:sldMk cId="1904038587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F937-9E94-48E7-9C3A-CD4463823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07318-190E-41A9-AD1D-EDBBCB84D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F89CF-4A24-4752-9779-2E25907C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73A2-61C1-4DE9-8113-51C657E7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2B067-EFFF-4260-B752-DB09989F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88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90A3-3F25-4C70-9458-D6F1FD97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2E4D-6D46-4874-AA96-5D73E09CC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8675D-794A-4B83-B34A-9DB6EE10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A5221-370C-4412-B292-DAB48B9E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339EF-9F7A-42E1-8937-EAEF921F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8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187A-7513-4662-8032-A31908C0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ED612-AE41-4D49-BCC7-67E799E1C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B056B-3DFC-4F18-9192-F7773C301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6188-59DD-4C49-90F9-33559698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6D079-62B6-4A8A-9548-A7E2963D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1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CA05-F19A-4A3E-BCAC-B51DDAE4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8518-F078-4896-BE0B-4CB503D52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F512D-5A53-4116-ABF8-CAFAF9CFA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F20C5-4208-4DBD-9155-E631374BA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221FF-5840-4492-92DC-96B708EB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3A08C-7FDC-4B37-A4AC-4FD6F845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3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F0DF-3874-45E3-A87C-F4BCAE887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C8A9B-2DBF-4E69-B8F9-4E7E7617A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268CE-67EF-4BDF-BE4D-8DA2D2963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E783C-2F83-4513-A26A-0A14D14A6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0A602-2F16-404B-A046-613BF0CE3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1F779-1162-48FE-BD02-15383E92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49555-68C3-4001-91B5-35E0BAC7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CB83E-7559-4D12-A6AD-BB119BAE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0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AFB1-E749-4A76-935A-E758D04D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4A595-87DF-483C-A34D-9E61CAF6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B5C58-BF74-44B8-80D8-7314F1FD5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14CA9-DB2F-46AA-8DDB-A466B00D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8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4B8AA-57DF-4C71-9136-75F62BE4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903E8-622E-423B-ADFF-3501063F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D0D7F-0997-40B0-94B0-438A61BC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413C-B14C-43B0-BA91-6AE807AD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BD5DB-6CE3-456B-A3E4-868F81D04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FA9A0-4E9D-430D-BD98-99C16F831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BC72C-8586-4237-B4B4-4C94C654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A3AA1-A3D9-4CF6-A063-7D145BC6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3B929-7ED7-441F-AF6F-A4B7CBA9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1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AE3C-2654-4274-A2E1-20931605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B9948-653D-45EC-9C7D-344163EFB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1A8BD-DFA6-40A6-9CEA-2A758B242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1B548-E4B5-4930-AE8D-0B73C802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18DA3-79F3-4588-A947-98C3B33F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0F801-4791-4855-BA5B-478E1E33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09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AA71-4C3A-4EF4-8B24-0BE80B97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BBC6C-D055-49FA-81E3-E343913A1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D0E29-B439-4F03-AC95-B6D0ED53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79D74-716B-4F8D-B11B-5A193C9E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34523-A392-4B5E-84D2-3496A44A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4B14D-AC15-4189-8DA2-A1AAD52620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ACA5C-F1FD-4895-BD47-F7F1694ED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8313A-B9C5-46E3-ACAE-8A9D8F66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8F1E3-DB40-4795-83E6-753DB700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33ED4-C076-4B06-805D-EE57CF0B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6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6DC1B-1BA3-4DEA-A407-C6DCD01A0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CD218-0AA9-4FB7-BAE4-F1234E477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35D8D-915B-45D0-AF13-EB12D7359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BE792-EBA5-4EA9-8D1D-6403D7275353}" type="datetimeFigureOut">
              <a:rPr lang="en-US" smtClean="0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D66B-7648-411F-BC11-894BA5D79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59F59-C102-4A26-9A26-C238CAD40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1F57D-12DC-4D0B-93DA-9F1928BF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2302-6029-4128-8BD9-4AFB6128C7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Divide and Conquer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3777070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pic>
        <p:nvPicPr>
          <p:cNvPr id="8" name="Content Placeholder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0DFB673-2168-9EB1-F557-7CBA9AA8B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2358231"/>
            <a:ext cx="5372100" cy="3286125"/>
          </a:xfrm>
        </p:spPr>
      </p:pic>
    </p:spTree>
    <p:extLst>
      <p:ext uri="{BB962C8B-B14F-4D97-AF65-F5344CB8AC3E}">
        <p14:creationId xmlns:p14="http://schemas.microsoft.com/office/powerpoint/2010/main" val="1343708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7A2DBBC-3201-4D0A-B025-0BC741F89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0" y="1540696"/>
            <a:ext cx="8047413" cy="5151652"/>
          </a:xfrm>
        </p:spPr>
      </p:pic>
    </p:spTree>
    <p:extLst>
      <p:ext uri="{BB962C8B-B14F-4D97-AF65-F5344CB8AC3E}">
        <p14:creationId xmlns:p14="http://schemas.microsoft.com/office/powerpoint/2010/main" val="209613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7A2DBBC-3201-4D0A-B025-0BC741F89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0" y="1540696"/>
            <a:ext cx="8047413" cy="515165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457DDD-93F7-9762-29D8-9B01C48E095D}"/>
              </a:ext>
            </a:extLst>
          </p:cNvPr>
          <p:cNvSpPr txBox="1"/>
          <p:nvPr/>
        </p:nvSpPr>
        <p:spPr>
          <a:xfrm>
            <a:off x="8610600" y="324433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Complexity :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284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the given array in two halves</a:t>
            </a:r>
          </a:p>
          <a:p>
            <a:r>
              <a:rPr lang="en-US" dirty="0"/>
              <a:t>Return the maximum of following three</a:t>
            </a:r>
          </a:p>
          <a:p>
            <a:pPr lvl="1"/>
            <a:r>
              <a:rPr lang="en-US" dirty="0"/>
              <a:t>Maximum subarray sum in left half (Make a recursive call)</a:t>
            </a:r>
          </a:p>
          <a:p>
            <a:pPr lvl="1"/>
            <a:r>
              <a:rPr lang="en-US" dirty="0"/>
              <a:t>Maximum subarray sum in right half (Make a recursive call)</a:t>
            </a:r>
          </a:p>
          <a:p>
            <a:pPr lvl="1"/>
            <a:r>
              <a:rPr lang="en-US" dirty="0"/>
              <a:t>Maximum subarray sum such that the subarray crosses the midpoint</a:t>
            </a:r>
          </a:p>
          <a:p>
            <a:pPr lvl="1"/>
            <a:endParaRPr lang="en-US" dirty="0"/>
          </a:p>
          <a:p>
            <a:r>
              <a:rPr lang="pt-BR" b="0" i="0" dirty="0">
                <a:solidFill>
                  <a:srgbClr val="273239"/>
                </a:solidFill>
                <a:effectLst/>
                <a:latin typeface="urw-din"/>
              </a:rPr>
              <a:t>Time Complexity: T(n) = 2T(n/2) + Θ(n)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6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subarray sum such that the subarray crosses the midpoint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	return </a:t>
            </a:r>
            <a:r>
              <a:rPr lang="en-US" sz="1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lefpartsum</a:t>
            </a:r>
            <a:r>
              <a:rPr lang="en-US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rightpartsum</a:t>
            </a:r>
            <a:endParaRPr lang="en-US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8A3754-D8D4-BA65-E646-BD04E9D95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849729"/>
              </p:ext>
            </p:extLst>
          </p:nvPr>
        </p:nvGraphicFramePr>
        <p:xfrm>
          <a:off x="1775791" y="2957788"/>
          <a:ext cx="7838600" cy="2409342"/>
        </p:xfrm>
        <a:graphic>
          <a:graphicData uri="http://schemas.openxmlformats.org/drawingml/2006/table">
            <a:tbl>
              <a:tblPr firstRow="1" firstCol="1" bandRow="1"/>
              <a:tblGrid>
                <a:gridCol w="3919300">
                  <a:extLst>
                    <a:ext uri="{9D8B030D-6E8A-4147-A177-3AD203B41FA5}">
                      <a16:colId xmlns:a16="http://schemas.microsoft.com/office/drawing/2014/main" val="3412210255"/>
                    </a:ext>
                  </a:extLst>
                </a:gridCol>
                <a:gridCol w="3919300">
                  <a:extLst>
                    <a:ext uri="{9D8B030D-6E8A-4147-A177-3AD203B41FA5}">
                      <a16:colId xmlns:a16="http://schemas.microsoft.com/office/drawing/2014/main" val="774799100"/>
                    </a:ext>
                  </a:extLst>
                </a:gridCol>
              </a:tblGrid>
              <a:tr h="24093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(int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mid;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&gt;= low;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--)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sum = sum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if (sum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leftpartsum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	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leftpartsum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sum;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(int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mid+1;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&lt;= high;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++)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sum = sum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if (sum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rightpartsum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	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rightpartsum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sum;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77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05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7984-8917-FFAE-5E5E-091FA401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53E9-F1CE-F3BA-5E39-2227D2B4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36935-3A76-9921-788D-50B2EC11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273239"/>
                </a:solidFill>
                <a:effectLst/>
                <a:latin typeface="urw-din"/>
              </a:rPr>
              <a:t>Time Complexity: T(n) = 2T(n/2) + Θ(n)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2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Max: Max possible value including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element.</a:t>
            </a:r>
          </a:p>
          <a:p>
            <a:pPr lvl="1"/>
            <a:r>
              <a:rPr lang="en-US" dirty="0"/>
              <a:t>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[i-1])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 we need an array to store </a:t>
            </a:r>
            <a:r>
              <a:rPr lang="en-US" dirty="0" err="1"/>
              <a:t>localmax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12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Max: Max possible value including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element.</a:t>
            </a:r>
          </a:p>
          <a:p>
            <a:pPr lvl="1"/>
            <a:r>
              <a:rPr lang="en-US" dirty="0"/>
              <a:t>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[i-1])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 we need an array to store </a:t>
            </a:r>
            <a:r>
              <a:rPr lang="en-US" dirty="0" err="1"/>
              <a:t>localmax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Yes, if we don’t keep the track of global max</a:t>
            </a:r>
          </a:p>
          <a:p>
            <a:pPr lvl="1"/>
            <a:r>
              <a:rPr lang="en-US" dirty="0"/>
              <a:t>No, for the previous approach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203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Max: Max possible value including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element.</a:t>
            </a:r>
          </a:p>
          <a:p>
            <a:pPr lvl="1"/>
            <a:r>
              <a:rPr lang="en-US" dirty="0"/>
              <a:t>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[i-1])</a:t>
            </a:r>
          </a:p>
          <a:p>
            <a:r>
              <a:rPr lang="en-US" dirty="0"/>
              <a:t>Global Max: Update every time </a:t>
            </a:r>
            <a:r>
              <a:rPr lang="en-US" dirty="0" err="1"/>
              <a:t>localmax</a:t>
            </a:r>
            <a:r>
              <a:rPr lang="en-US" dirty="0"/>
              <a:t> is calculated</a:t>
            </a:r>
          </a:p>
          <a:p>
            <a:pPr marL="0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localmax</a:t>
            </a:r>
            <a:r>
              <a:rPr lang="en-US" dirty="0"/>
              <a:t> = 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);</a:t>
            </a:r>
          </a:p>
          <a:p>
            <a:pPr marL="914400" lvl="2" indent="0">
              <a:buNone/>
            </a:pPr>
            <a:r>
              <a:rPr lang="en-US" dirty="0"/>
              <a:t>	if(</a:t>
            </a:r>
            <a:r>
              <a:rPr lang="en-US" dirty="0" err="1"/>
              <a:t>localmax</a:t>
            </a:r>
            <a:r>
              <a:rPr lang="en-US" dirty="0"/>
              <a:t> &gt; </a:t>
            </a:r>
            <a:r>
              <a:rPr lang="en-US" dirty="0" err="1"/>
              <a:t>globalmax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		</a:t>
            </a:r>
            <a:r>
              <a:rPr lang="en-US" dirty="0" err="1"/>
              <a:t>globalmax</a:t>
            </a:r>
            <a:r>
              <a:rPr lang="en-US" dirty="0"/>
              <a:t> = </a:t>
            </a:r>
            <a:r>
              <a:rPr lang="en-US" dirty="0" err="1"/>
              <a:t>localmax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78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82026D2-7835-75B5-6E22-349DCBCA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13098"/>
              </p:ext>
            </p:extLst>
          </p:nvPr>
        </p:nvGraphicFramePr>
        <p:xfrm>
          <a:off x="1979803" y="2231474"/>
          <a:ext cx="7835316" cy="1887520"/>
        </p:xfrm>
        <a:graphic>
          <a:graphicData uri="http://schemas.openxmlformats.org/drawingml/2006/table">
            <a:tbl>
              <a:tblPr firstRow="1" firstCol="1" bandRow="1"/>
              <a:tblGrid>
                <a:gridCol w="4035103">
                  <a:extLst>
                    <a:ext uri="{9D8B030D-6E8A-4147-A177-3AD203B41FA5}">
                      <a16:colId xmlns:a16="http://schemas.microsoft.com/office/drawing/2014/main" val="1161197537"/>
                    </a:ext>
                  </a:extLst>
                </a:gridCol>
                <a:gridCol w="3800213">
                  <a:extLst>
                    <a:ext uri="{9D8B030D-6E8A-4147-A177-3AD203B41FA5}">
                      <a16:colId xmlns:a16="http://schemas.microsoft.com/office/drawing/2014/main" val="68499947"/>
                    </a:ext>
                  </a:extLst>
                </a:gridCol>
              </a:tblGrid>
              <a:tr h="18875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 n;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++){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max(A[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], A[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if(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 n;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++){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A[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if(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if(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 0)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   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0;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63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14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488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urw-din</vt:lpstr>
      <vt:lpstr>Office Theme</vt:lpstr>
      <vt:lpstr>Divide and Conquer (Cont…)</vt:lpstr>
      <vt:lpstr>Maximum Subarray Sum</vt:lpstr>
      <vt:lpstr>Maximum Subarray Sum</vt:lpstr>
      <vt:lpstr>Maximum Subarray Sum</vt:lpstr>
      <vt:lpstr>Maximum Subarray Sum</vt:lpstr>
      <vt:lpstr>Maximum Subarray Sum</vt:lpstr>
      <vt:lpstr>Maximum Subarray Sum</vt:lpstr>
      <vt:lpstr>Maximum Subarray Sum (Kadane’s Algorithm)</vt:lpstr>
      <vt:lpstr>Maximum Subarray Sum (Kadane’s Algorithm)</vt:lpstr>
      <vt:lpstr>Maximum Subarray Sum (Kadane’s Algorithm)</vt:lpstr>
      <vt:lpstr>Maximum Subarray Sum (Kadane’s Algorithm)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 (Greedy Algorithm)</dc:title>
  <dc:creator>Md Moniruzzaman, Assistant Professor,CSE</dc:creator>
  <cp:lastModifiedBy>Md. Maniruzzaman, Assistant Professor, CSE</cp:lastModifiedBy>
  <cp:revision>34</cp:revision>
  <dcterms:created xsi:type="dcterms:W3CDTF">2022-02-24T22:17:10Z</dcterms:created>
  <dcterms:modified xsi:type="dcterms:W3CDTF">2025-07-14T21:14:01Z</dcterms:modified>
</cp:coreProperties>
</file>