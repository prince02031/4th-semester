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iJPuPomUDBeUd+taOGbASn3chZ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9AEA719-58AE-4063-A58E-00A0E4066276}">
  <a:tblStyle styleId="{39AEA719-58AE-4063-A58E-00A0E406627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 = (x-x1)(y2-y1) – (y-y1)(x2-x1)</a:t>
            </a:r>
            <a:endParaRPr/>
          </a:p>
        </p:txBody>
      </p:sp>
      <p:sp>
        <p:nvSpPr>
          <p:cNvPr id="170" name="Google Shape;17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Divide and Conquer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Longest Nice Substring</a:t>
            </a:r>
            <a:endParaRPr/>
          </a:p>
        </p:txBody>
      </p:sp>
      <p:sp>
        <p:nvSpPr>
          <p:cNvPr id="94" name="Google Shape;94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 string s is nice if, for every letter of the alphabet that s contains, it appears both in uppercase and lowercase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aAbBAAA – Nice string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Abc – Not nice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abBxCDScsedEad - ??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Longest Nice Substring</a:t>
            </a:r>
            <a:endParaRPr/>
          </a:p>
        </p:txBody>
      </p:sp>
      <p:sp>
        <p:nvSpPr>
          <p:cNvPr id="100" name="Google Shape;100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 string s is nice if, for every letter of the alphabet that s contains, it appears both in uppercase and lowercase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aAbB – Nice string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Abc – Not nice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abBxCDScsedEad – Not nice (But there are substrings, which are nice)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Longest Nice Substring</a:t>
            </a:r>
            <a:endParaRPr/>
          </a:p>
        </p:txBody>
      </p:sp>
      <p:sp>
        <p:nvSpPr>
          <p:cNvPr id="106" name="Google Shape;106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aAAbB – Nice string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Abc – Not nice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</a:t>
            </a:r>
            <a:r>
              <a:rPr b="1" lang="en-US">
                <a:solidFill>
                  <a:schemeClr val="accent6"/>
                </a:solidFill>
              </a:rPr>
              <a:t>bB</a:t>
            </a:r>
            <a:r>
              <a:rPr lang="en-US"/>
              <a:t>x</a:t>
            </a:r>
            <a:r>
              <a:rPr b="1" lang="en-US">
                <a:solidFill>
                  <a:schemeClr val="accent6"/>
                </a:solidFill>
              </a:rPr>
              <a:t>CDScsedE</a:t>
            </a:r>
            <a:r>
              <a:rPr lang="en-US"/>
              <a:t>ad – (Goal is to find the longest nice substring)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Trivial Solution </a:t>
            </a:r>
            <a:endParaRPr/>
          </a:p>
        </p:txBody>
      </p:sp>
      <p:sp>
        <p:nvSpPr>
          <p:cNvPr id="112" name="Google Shape;112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Find all possible substring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Check which one of them are nice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Print the one with highest length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Number of all possible nonempty substring: n(n+1)/2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O(n</a:t>
            </a:r>
            <a:r>
              <a:rPr baseline="30000" lang="en-US"/>
              <a:t>2</a:t>
            </a:r>
            <a:r>
              <a:rPr lang="en-US"/>
              <a:t>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Solution </a:t>
            </a:r>
            <a:endParaRPr/>
          </a:p>
        </p:txBody>
      </p:sp>
      <p:sp>
        <p:nvSpPr>
          <p:cNvPr id="118" name="Google Shape;118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If the string length is less than 2, return empty string.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Keep the track of occurrence of every alphabets.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(To check whether a letter have its counter-letter in the string or not)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Solution </a:t>
            </a:r>
            <a:endParaRPr/>
          </a:p>
        </p:txBody>
      </p:sp>
      <p:sp>
        <p:nvSpPr>
          <p:cNvPr id="124" name="Google Shape;124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Char char="•"/>
            </a:pPr>
            <a:r>
              <a:rPr lang="en-US">
                <a:solidFill>
                  <a:schemeClr val="accent6"/>
                </a:solidFill>
              </a:rPr>
              <a:t>If the string length is less than 2, return empty string.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ct val="100000"/>
              <a:buChar char="•"/>
            </a:pPr>
            <a:r>
              <a:rPr lang="en-US">
                <a:solidFill>
                  <a:schemeClr val="accent6"/>
                </a:solidFill>
              </a:rPr>
              <a:t>Keep the track of occurrence of every alphabets.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if(s.length()&lt;2) return "";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     set &lt;char&gt; ch_set;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     int len = s.length();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     for(int i = 0; i&lt;len; i++){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         ch_set.insert(s[i]); // In case of set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				//ar[ s[i] ] = 1; //In case of array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Keep the track of occurrence of every alphabets</a:t>
            </a:r>
            <a:endParaRPr/>
          </a:p>
        </p:txBody>
      </p:sp>
      <p:sp>
        <p:nvSpPr>
          <p:cNvPr id="130" name="Google Shape;130;p6"/>
          <p:cNvSpPr txBox="1"/>
          <p:nvPr>
            <p:ph idx="1" type="body"/>
          </p:nvPr>
        </p:nvSpPr>
        <p:spPr>
          <a:xfrm>
            <a:off x="838200" y="1825625"/>
            <a:ext cx="11073900" cy="46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Using array: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latin typeface="Courier New"/>
                <a:ea typeface="Courier New"/>
                <a:cs typeface="Courier New"/>
                <a:sym typeface="Courier New"/>
              </a:rPr>
              <a:t>ch = s[i]</a:t>
            </a:r>
            <a:endParaRPr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latin typeface="Courier New"/>
                <a:ea typeface="Courier New"/>
                <a:cs typeface="Courier New"/>
                <a:sym typeface="Courier New"/>
              </a:rPr>
              <a:t>if ( ar[toupper(ch)] &amp;&amp; ar[ tolower(ch)])</a:t>
            </a:r>
            <a:endParaRPr sz="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Using set: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latin typeface="Courier New"/>
                <a:ea typeface="Courier New"/>
                <a:cs typeface="Courier New"/>
                <a:sym typeface="Courier New"/>
              </a:rPr>
              <a:t>ch = s[i]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100">
                <a:latin typeface="Courier New"/>
                <a:ea typeface="Courier New"/>
                <a:cs typeface="Courier New"/>
                <a:sym typeface="Courier New"/>
              </a:rPr>
              <a:t>if( ch_set.contains(toupper(ch)) &amp;&amp; ch_set.contains(tolower(ch)) )</a:t>
            </a:r>
            <a:endParaRPr/>
          </a:p>
        </p:txBody>
      </p:sp>
      <p:graphicFrame>
        <p:nvGraphicFramePr>
          <p:cNvPr id="131" name="Google Shape;131;p6"/>
          <p:cNvGraphicFramePr/>
          <p:nvPr/>
        </p:nvGraphicFramePr>
        <p:xfrm>
          <a:off x="1439080" y="32613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{39AEA719-58AE-4063-A58E-00A0E4066276}</a:tableStyleId>
              </a:tblPr>
              <a:tblGrid>
                <a:gridCol w="365475"/>
                <a:gridCol w="365475"/>
                <a:gridCol w="533700"/>
                <a:gridCol w="490250"/>
                <a:gridCol w="490250"/>
                <a:gridCol w="490250"/>
                <a:gridCol w="410025"/>
                <a:gridCol w="490250"/>
                <a:gridCol w="490250"/>
                <a:gridCol w="490250"/>
                <a:gridCol w="410025"/>
                <a:gridCol w="490250"/>
                <a:gridCol w="490250"/>
                <a:gridCol w="490250"/>
                <a:gridCol w="410025"/>
                <a:gridCol w="613950"/>
                <a:gridCol w="455875"/>
                <a:gridCol w="523550"/>
              </a:tblGrid>
              <a:tr h="25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…..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89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98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99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121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122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Solution </a:t>
            </a:r>
            <a:endParaRPr/>
          </a:p>
        </p:txBody>
      </p:sp>
      <p:sp>
        <p:nvSpPr>
          <p:cNvPr id="137" name="Google Shape;13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If the string length is less than 2, return empty string.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Keep the track of occurrence of every alphabets.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Run a loop from the beginning of the string (s)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until you found a letter which does not have its counter-letter in the string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Or reached to the end of the string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If it is the end of the string, return 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Otherwise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Split the string into two substring from the left and right of the non-matching character and return the longest nice substring from both parts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Solution </a:t>
            </a:r>
            <a:endParaRPr/>
          </a:p>
        </p:txBody>
      </p:sp>
      <p:sp>
        <p:nvSpPr>
          <p:cNvPr id="143" name="Google Shape;143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Run a loop up to the end of the string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Check if (ch_set.count(toupper(ch)) &amp;&amp; ch_set.count(tolower(ch)) 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if true, check the next letter.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Recursively call the left and right substring to find the longest nice substring in them.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Return the bigger one among them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Solution </a:t>
            </a:r>
            <a:endParaRPr/>
          </a:p>
        </p:txBody>
      </p:sp>
      <p:sp>
        <p:nvSpPr>
          <p:cNvPr id="149" name="Google Shape;149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Recursively call the left and right substring: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Left:     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s1 = f1(s.substr(0,i))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Right:  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s2 = f1(s.substr(i+1</a:t>
            </a: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len-i+1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5"/>
          <p:cNvSpPr txBox="1"/>
          <p:nvPr>
            <p:ph idx="1" type="body"/>
          </p:nvPr>
        </p:nvSpPr>
        <p:spPr>
          <a:xfrm>
            <a:off x="838200" y="340518"/>
            <a:ext cx="10515600" cy="617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6"/>
              <a:buChar char="•"/>
            </a:pPr>
            <a:r>
              <a:rPr lang="en-US"/>
              <a:t>string longestNiceSubstring(string s) {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6"/>
              <a:buChar char="•"/>
            </a:pPr>
            <a:r>
              <a:rPr lang="en-US"/>
              <a:t>        if(s.length()&lt;2) return "";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6"/>
              <a:buChar char="•"/>
            </a:pPr>
            <a:r>
              <a:rPr lang="en-US"/>
              <a:t>        set &lt;char&gt; ch_set;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6"/>
              <a:buChar char="•"/>
            </a:pPr>
            <a:r>
              <a:rPr lang="en-US"/>
              <a:t>        int len = s.length();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6"/>
              <a:buChar char="•"/>
            </a:pPr>
            <a:r>
              <a:rPr lang="en-US"/>
              <a:t>        for(int i = 0; i&lt;len; i++){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6"/>
              <a:buChar char="•"/>
            </a:pPr>
            <a:r>
              <a:rPr lang="en-US"/>
              <a:t>            ch_set.insert(s[i]);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6"/>
              <a:buChar char="•"/>
            </a:pPr>
            <a:r>
              <a:rPr lang="en-US"/>
              <a:t>        }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6"/>
              <a:buChar char="•"/>
            </a:pPr>
            <a:r>
              <a:rPr lang="en-US"/>
              <a:t>        for(int i = 0; i&lt;len; i++){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6"/>
              <a:buChar char="•"/>
            </a:pPr>
            <a:r>
              <a:rPr lang="en-US"/>
              <a:t>            char ch = s[i];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6"/>
              <a:buChar char="•"/>
            </a:pPr>
            <a:r>
              <a:rPr lang="en-US"/>
              <a:t>            if(ch_set.count(toupper(ch)) &amp;&amp; ch_set.count(tolower(ch)))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6"/>
              <a:buChar char="•"/>
            </a:pPr>
            <a:r>
              <a:rPr lang="en-US"/>
              <a:t>                continue;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6"/>
              <a:buChar char="•"/>
            </a:pPr>
            <a:r>
              <a:rPr lang="en-US"/>
              <a:t>            string s1 = longestNiceSubstring(s.substr(0,i));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6"/>
              <a:buChar char="•"/>
            </a:pPr>
            <a:r>
              <a:rPr lang="en-US"/>
              <a:t>            string s2 = longestNiceSubstring(s.substr(i+1));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6"/>
              <a:buChar char="•"/>
            </a:pPr>
            <a:r>
              <a:rPr lang="en-US"/>
              <a:t>            return s1.length() &gt;= s2.length() ? s1:s2;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6"/>
              <a:buChar char="•"/>
            </a:pPr>
            <a:r>
              <a:rPr lang="en-US"/>
              <a:t>        }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6"/>
              <a:buChar char="•"/>
            </a:pPr>
            <a:r>
              <a:rPr lang="en-US"/>
              <a:t>        return s;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6"/>
              <a:buChar char="•"/>
            </a:pPr>
            <a:r>
              <a:rPr lang="en-US"/>
              <a:t>    }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6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Problem Link</a:t>
            </a:r>
            <a:endParaRPr/>
          </a:p>
        </p:txBody>
      </p:sp>
      <p:sp>
        <p:nvSpPr>
          <p:cNvPr id="160" name="Google Shape;160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https://leetcode.com/problems/longest-nice-substring/description/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Convex Hull Problem</a:t>
            </a:r>
            <a:endParaRPr/>
          </a:p>
        </p:txBody>
      </p:sp>
      <p:pic>
        <p:nvPicPr>
          <p:cNvPr descr="A picture containing chart&#10;&#10;Description automatically generated" id="166" name="Google Shape;16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1361" y="1352939"/>
            <a:ext cx="8359477" cy="5067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Convex Hull Problem</a:t>
            </a:r>
            <a:endParaRPr/>
          </a:p>
        </p:txBody>
      </p:sp>
      <p:pic>
        <p:nvPicPr>
          <p:cNvPr descr="A picture containing text&#10;&#10;Description automatically generated" id="173" name="Google Shape;17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310" y="1290191"/>
            <a:ext cx="8041433" cy="5567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Convex Hull Problem</a:t>
            </a:r>
            <a:endParaRPr/>
          </a:p>
        </p:txBody>
      </p:sp>
      <p:pic>
        <p:nvPicPr>
          <p:cNvPr descr="Graphical user interface, text, application&#10;&#10;Description automatically generated" id="179" name="Google Shape;17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6558" y="1845412"/>
            <a:ext cx="9231013" cy="4286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Convex Hull Problem</a:t>
            </a:r>
            <a:endParaRPr/>
          </a:p>
        </p:txBody>
      </p:sp>
      <p:pic>
        <p:nvPicPr>
          <p:cNvPr descr="Chart, radar chart&#10;&#10;Description automatically generated" id="185" name="Google Shape;18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0890" y="1780945"/>
            <a:ext cx="6230219" cy="3296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Convex Hull Problem</a:t>
            </a:r>
            <a:endParaRPr/>
          </a:p>
        </p:txBody>
      </p:sp>
      <p:pic>
        <p:nvPicPr>
          <p:cNvPr descr="Chart, radar chart&#10;&#10;Description automatically generated" id="191" name="Google Shape;19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8572" y="1296140"/>
            <a:ext cx="7682404" cy="5452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Convex Hull Problem</a:t>
            </a:r>
            <a:endParaRPr/>
          </a:p>
        </p:txBody>
      </p:sp>
      <p:pic>
        <p:nvPicPr>
          <p:cNvPr descr="Chart, radar chart&#10;&#10;Description automatically generated" id="197" name="Google Shape;19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5756" y="1276855"/>
            <a:ext cx="7550489" cy="5362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Convex Hull Problem (Complexity)</a:t>
            </a:r>
            <a:endParaRPr/>
          </a:p>
        </p:txBody>
      </p:sp>
      <p:pic>
        <p:nvPicPr>
          <p:cNvPr descr="Text&#10;&#10;Description automatically generated" id="203" name="Google Shape;20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5177" y="1288887"/>
            <a:ext cx="8331685" cy="5212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Matrix Multiplication</a:t>
            </a:r>
            <a:endParaRPr/>
          </a:p>
        </p:txBody>
      </p:sp>
      <p:pic>
        <p:nvPicPr>
          <p:cNvPr descr="Text, letter&#10;&#10;Description automatically generated"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9996" y="1799997"/>
            <a:ext cx="5792008" cy="3258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Matrix Multiplication</a:t>
            </a:r>
            <a:endParaRPr/>
          </a:p>
        </p:txBody>
      </p:sp>
      <p:pic>
        <p:nvPicPr>
          <p:cNvPr descr="Text&#10;&#10;Description automatically generated" id="215" name="Google Shape;21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1915" y="1215749"/>
            <a:ext cx="7789740" cy="5480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Matrix Multiplication (Strassen’s Method)</a:t>
            </a:r>
            <a:endParaRPr/>
          </a:p>
        </p:txBody>
      </p:sp>
      <p:pic>
        <p:nvPicPr>
          <p:cNvPr descr="Text&#10;&#10;Description automatically generated" id="221" name="Google Shape;22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7230" y="1401182"/>
            <a:ext cx="7201461" cy="5119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2022-02-24T22:17:10Z</dcterms:created>
  <dc:creator>Md Moniruzzaman, Assistant Professor,CSE</dc:creator>
</cp:coreProperties>
</file>