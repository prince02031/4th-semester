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gh63cP+3g2/IY0Qoaint3gjg/1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78290E-699B-46CB-98D4-626CF624933B}">
  <a:tblStyle styleId="{DD78290E-699B-46CB-98D4-626CF624933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B4A57898-3CD7-4A0C-B162-55E7D0C1B67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Dynamic Programming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Coin Change</a:t>
            </a:r>
            <a:endParaRPr/>
          </a:p>
        </p:txBody>
      </p:sp>
      <p:sp>
        <p:nvSpPr>
          <p:cNvPr id="90" name="Google Shape;90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Given an integer array of coins[ ] of size N representing different types of currency and an integer sum, The task is to find the number of ways to make sum by using different combinations from coins[]. 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Note: Assume that you have an infinite supply of each type of coin, and you are allowed to use same valued multiple times.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Coin Change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b="1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b="0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sum = 4, coins[] = {1,2,3}, n =3</a:t>
            </a:r>
            <a:br>
              <a:rPr lang="en-US"/>
            </a:br>
            <a:r>
              <a:rPr b="1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b="0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4</a:t>
            </a:r>
            <a:br>
              <a:rPr lang="en-US"/>
            </a:br>
            <a:r>
              <a:rPr b="1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Explanation:</a:t>
            </a:r>
            <a:r>
              <a:rPr b="0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there are four solutions: 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3239"/>
              </a:buClr>
              <a:buSzPts val="1800"/>
              <a:buChar char="•"/>
            </a:pPr>
            <a:r>
              <a:rPr b="0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{1, 1, 1, 1}, {1, 1, 2}, {2, 2}, {1, 3}. 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>
              <a:solidFill>
                <a:srgbClr val="2732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b="1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b="0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sum = 10, coins[] = {2, 5, 3, 6}, n =4</a:t>
            </a:r>
            <a:br>
              <a:rPr lang="en-US"/>
            </a:br>
            <a:r>
              <a:rPr b="1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b="0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5</a:t>
            </a:r>
            <a:br>
              <a:rPr lang="en-US"/>
            </a:br>
            <a:r>
              <a:rPr b="1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Explanation:</a:t>
            </a:r>
            <a:r>
              <a:rPr b="0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There are five solutions: 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3239"/>
              </a:buClr>
              <a:buSzPts val="1800"/>
              <a:buChar char="•"/>
            </a:pPr>
            <a:r>
              <a:rPr b="0" i="1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{2,2,2,2,2}, {2,2,3,3}, {2,2,6}, {2,3,5} and {5,5}.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fmla="val 100000" name="adj1"/>
              <a:gd fmla="val 15788" name="adj2"/>
            </a:avLst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Coin Change</a:t>
            </a:r>
            <a:endParaRPr/>
          </a:p>
        </p:txBody>
      </p:sp>
      <p:pic>
        <p:nvPicPr>
          <p:cNvPr descr="A diagram of a tree&#10;&#10;AI-generated content may be incorrect."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7285" y="673769"/>
            <a:ext cx="7310731" cy="5135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Coin Change</a:t>
            </a:r>
            <a:endParaRPr/>
          </a:p>
        </p:txBody>
      </p:sp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Smaller sub problems: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change(sum,n) = change(sum, n-1) + change(sum - coins[n],n)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Coin Change Bottom-Up (Tabulation)</a:t>
            </a:r>
            <a:endParaRPr/>
          </a:p>
        </p:txBody>
      </p:sp>
      <p:graphicFrame>
        <p:nvGraphicFramePr>
          <p:cNvPr id="115" name="Google Shape;115;p70"/>
          <p:cNvGraphicFramePr/>
          <p:nvPr/>
        </p:nvGraphicFramePr>
        <p:xfrm>
          <a:off x="1931332" y="18689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{DD78290E-699B-46CB-98D4-626CF624933B}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6" name="Google Shape;116;p70"/>
          <p:cNvSpPr txBox="1"/>
          <p:nvPr/>
        </p:nvSpPr>
        <p:spPr>
          <a:xfrm>
            <a:off x="1023670" y="1854025"/>
            <a:ext cx="746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coin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0"/>
          <p:cNvSpPr txBox="1"/>
          <p:nvPr/>
        </p:nvSpPr>
        <p:spPr>
          <a:xfrm>
            <a:off x="1931332" y="1493230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0"/>
          <p:cNvSpPr txBox="1"/>
          <p:nvPr/>
        </p:nvSpPr>
        <p:spPr>
          <a:xfrm>
            <a:off x="2963403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0"/>
          <p:cNvSpPr txBox="1"/>
          <p:nvPr/>
        </p:nvSpPr>
        <p:spPr>
          <a:xfrm>
            <a:off x="4073980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0"/>
          <p:cNvSpPr txBox="1"/>
          <p:nvPr/>
        </p:nvSpPr>
        <p:spPr>
          <a:xfrm>
            <a:off x="990907" y="2202028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0"/>
          <p:cNvSpPr txBox="1"/>
          <p:nvPr/>
        </p:nvSpPr>
        <p:spPr>
          <a:xfrm>
            <a:off x="990907" y="2583095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0"/>
          <p:cNvSpPr txBox="1"/>
          <p:nvPr/>
        </p:nvSpPr>
        <p:spPr>
          <a:xfrm>
            <a:off x="1170409" y="2964162"/>
            <a:ext cx="83676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0"/>
          <p:cNvSpPr txBox="1"/>
          <p:nvPr/>
        </p:nvSpPr>
        <p:spPr>
          <a:xfrm>
            <a:off x="1042736" y="4466426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0"/>
          <p:cNvSpPr txBox="1"/>
          <p:nvPr/>
        </p:nvSpPr>
        <p:spPr>
          <a:xfrm>
            <a:off x="5210468" y="1411224"/>
            <a:ext cx="172268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           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0"/>
          <p:cNvSpPr txBox="1"/>
          <p:nvPr/>
        </p:nvSpPr>
        <p:spPr>
          <a:xfrm>
            <a:off x="9098284" y="1484693"/>
            <a:ext cx="1022681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=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Coin Change Bottom-Up (Tabulation)</a:t>
            </a:r>
            <a:endParaRPr/>
          </a:p>
        </p:txBody>
      </p:sp>
      <p:graphicFrame>
        <p:nvGraphicFramePr>
          <p:cNvPr id="131" name="Google Shape;131;p37"/>
          <p:cNvGraphicFramePr/>
          <p:nvPr/>
        </p:nvGraphicFramePr>
        <p:xfrm>
          <a:off x="1931332" y="18689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{DD78290E-699B-46CB-98D4-626CF624933B}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2" name="Google Shape;132;p37"/>
          <p:cNvSpPr txBox="1"/>
          <p:nvPr/>
        </p:nvSpPr>
        <p:spPr>
          <a:xfrm>
            <a:off x="1023670" y="1854025"/>
            <a:ext cx="746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coin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7"/>
          <p:cNvSpPr txBox="1"/>
          <p:nvPr/>
        </p:nvSpPr>
        <p:spPr>
          <a:xfrm>
            <a:off x="1931332" y="1493230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7"/>
          <p:cNvSpPr txBox="1"/>
          <p:nvPr/>
        </p:nvSpPr>
        <p:spPr>
          <a:xfrm>
            <a:off x="2963403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7"/>
          <p:cNvSpPr txBox="1"/>
          <p:nvPr/>
        </p:nvSpPr>
        <p:spPr>
          <a:xfrm>
            <a:off x="4073980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7"/>
          <p:cNvSpPr txBox="1"/>
          <p:nvPr/>
        </p:nvSpPr>
        <p:spPr>
          <a:xfrm>
            <a:off x="990907" y="2202028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7"/>
          <p:cNvSpPr txBox="1"/>
          <p:nvPr/>
        </p:nvSpPr>
        <p:spPr>
          <a:xfrm>
            <a:off x="990907" y="2583095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7"/>
          <p:cNvSpPr txBox="1"/>
          <p:nvPr/>
        </p:nvSpPr>
        <p:spPr>
          <a:xfrm>
            <a:off x="1170409" y="2964162"/>
            <a:ext cx="83676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7"/>
          <p:cNvSpPr txBox="1"/>
          <p:nvPr/>
        </p:nvSpPr>
        <p:spPr>
          <a:xfrm>
            <a:off x="1042736" y="4466426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7"/>
          <p:cNvSpPr txBox="1"/>
          <p:nvPr/>
        </p:nvSpPr>
        <p:spPr>
          <a:xfrm>
            <a:off x="5210468" y="1411224"/>
            <a:ext cx="172268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           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7"/>
          <p:cNvSpPr txBox="1"/>
          <p:nvPr/>
        </p:nvSpPr>
        <p:spPr>
          <a:xfrm>
            <a:off x="9098284" y="1484693"/>
            <a:ext cx="1022681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=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Bottom up implementation 1</a:t>
            </a:r>
            <a:endParaRPr/>
          </a:p>
        </p:txBody>
      </p:sp>
      <p:sp>
        <p:nvSpPr>
          <p:cNvPr id="147" name="Google Shape;147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(i = 0; i &lt;= n; i++)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dp[i][0] = 1;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(j = 1; i &lt;= sum; i++)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dp[0][j] = 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(i = 1; i &lt;= n ; i++)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for (j = 1; j &lt;= sum; j++)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if(j &lt; coins[i </a:t>
            </a:r>
            <a:r>
              <a:rPr b="1" lang="en-US">
                <a:solidFill>
                  <a:srgbClr val="FF0000"/>
                </a:solidFill>
              </a:rPr>
              <a:t>- 1</a:t>
            </a:r>
            <a:r>
              <a:rPr lang="en-US"/>
              <a:t>])  //0 indexed coins array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dp[i][j] =  dp[i-1][j];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else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dp[i][j] = dp[i-1][j] + dp[i] [ j – coins[i </a:t>
            </a:r>
            <a:r>
              <a:rPr b="1" lang="en-US">
                <a:solidFill>
                  <a:srgbClr val="FF0000"/>
                </a:solidFill>
              </a:rPr>
              <a:t>- 1</a:t>
            </a:r>
            <a:r>
              <a:rPr lang="en-US"/>
              <a:t>] ];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dp[n][sum];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Coin Change Bottom-Up (2)</a:t>
            </a:r>
            <a:endParaRPr/>
          </a:p>
        </p:txBody>
      </p:sp>
      <p:graphicFrame>
        <p:nvGraphicFramePr>
          <p:cNvPr id="153" name="Google Shape;153;p71"/>
          <p:cNvGraphicFramePr/>
          <p:nvPr/>
        </p:nvGraphicFramePr>
        <p:xfrm>
          <a:off x="1931332" y="18689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{DD78290E-699B-46CB-98D4-626CF624933B}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4" name="Google Shape;154;p71"/>
          <p:cNvSpPr txBox="1"/>
          <p:nvPr/>
        </p:nvSpPr>
        <p:spPr>
          <a:xfrm>
            <a:off x="1023670" y="1854025"/>
            <a:ext cx="746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coin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1"/>
          <p:cNvSpPr txBox="1"/>
          <p:nvPr/>
        </p:nvSpPr>
        <p:spPr>
          <a:xfrm>
            <a:off x="1931332" y="1493230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1"/>
          <p:cNvSpPr txBox="1"/>
          <p:nvPr/>
        </p:nvSpPr>
        <p:spPr>
          <a:xfrm>
            <a:off x="2963403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1"/>
          <p:cNvSpPr txBox="1"/>
          <p:nvPr/>
        </p:nvSpPr>
        <p:spPr>
          <a:xfrm>
            <a:off x="4073980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1"/>
          <p:cNvSpPr txBox="1"/>
          <p:nvPr/>
        </p:nvSpPr>
        <p:spPr>
          <a:xfrm>
            <a:off x="990907" y="2202028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1"/>
          <p:cNvSpPr txBox="1"/>
          <p:nvPr/>
        </p:nvSpPr>
        <p:spPr>
          <a:xfrm>
            <a:off x="990907" y="2583095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1"/>
          <p:cNvSpPr txBox="1"/>
          <p:nvPr/>
        </p:nvSpPr>
        <p:spPr>
          <a:xfrm>
            <a:off x="1170409" y="2964162"/>
            <a:ext cx="83676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1"/>
          <p:cNvSpPr txBox="1"/>
          <p:nvPr/>
        </p:nvSpPr>
        <p:spPr>
          <a:xfrm>
            <a:off x="1042736" y="4466426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1"/>
          <p:cNvSpPr txBox="1"/>
          <p:nvPr/>
        </p:nvSpPr>
        <p:spPr>
          <a:xfrm>
            <a:off x="5210468" y="1411224"/>
            <a:ext cx="172268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           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1"/>
          <p:cNvSpPr txBox="1"/>
          <p:nvPr/>
        </p:nvSpPr>
        <p:spPr>
          <a:xfrm>
            <a:off x="9098284" y="1484693"/>
            <a:ext cx="1022681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=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Bottom up implementation (2)</a:t>
            </a:r>
            <a:endParaRPr/>
          </a:p>
        </p:txBody>
      </p:sp>
      <p:sp>
        <p:nvSpPr>
          <p:cNvPr id="169" name="Google Shape;169;p7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dp[0][0] = 1;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(i = 1; i &lt;= n ; i++)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for (j = </a:t>
            </a:r>
            <a:r>
              <a:rPr b="1" lang="en-US"/>
              <a:t>0</a:t>
            </a:r>
            <a:r>
              <a:rPr lang="en-US"/>
              <a:t>; j &lt;= sum; j++)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if(j &lt; coins[i </a:t>
            </a:r>
            <a:r>
              <a:rPr b="1" lang="en-US">
                <a:solidFill>
                  <a:srgbClr val="FF0000"/>
                </a:solidFill>
              </a:rPr>
              <a:t>- 1</a:t>
            </a:r>
            <a:r>
              <a:rPr lang="en-US"/>
              <a:t>])  //0 indexed coins array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dp[i][j] =  dp[i-1][j];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else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dp[i][j] = dp[i-1][j] + dp[i] [ j – coins[i </a:t>
            </a:r>
            <a:r>
              <a:rPr b="1" lang="en-US">
                <a:solidFill>
                  <a:srgbClr val="FF0000"/>
                </a:solidFill>
              </a:rPr>
              <a:t>- 1</a:t>
            </a:r>
            <a:r>
              <a:rPr lang="en-US"/>
              <a:t>] ];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dp[n][sum];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 down solution?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 down solution (Recursive)</a:t>
            </a:r>
            <a:endParaRPr/>
          </a:p>
        </p:txBody>
      </p:sp>
      <p:sp>
        <p:nvSpPr>
          <p:cNvPr id="180" name="Google Shape;180;p7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35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Initialize the dp array as -1 	</a:t>
            </a:r>
            <a:r>
              <a:rPr lang="en-US" sz="2000"/>
              <a:t>//to check whether the value is updated or not</a:t>
            </a:r>
            <a:endParaRPr/>
          </a:p>
          <a:p>
            <a:pPr indent="-457200" lvl="0" marL="635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f(n, sum)</a:t>
            </a:r>
            <a:endParaRPr/>
          </a:p>
          <a:p>
            <a:pPr indent="-457200" lvl="0" marL="635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Base Cases:</a:t>
            </a:r>
            <a:endParaRPr/>
          </a:p>
          <a:p>
            <a:pPr indent="-457200" lvl="1" marL="1092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if(sum == 0) return dp[sum][n] = 1;</a:t>
            </a:r>
            <a:endParaRPr/>
          </a:p>
          <a:p>
            <a:pPr indent="-457200" lvl="1" marL="1092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else if(n == 0) return dp[sum][n] = 0;</a:t>
            </a:r>
            <a:endParaRPr/>
          </a:p>
          <a:p>
            <a:pPr indent="-457200" lvl="1" marL="1092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else if(dp[n][sum] != -1) return dp[n][sum];</a:t>
            </a:r>
            <a:endParaRPr/>
          </a:p>
          <a:p>
            <a:pPr indent="-457200" lvl="1" marL="1092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else	recursive call</a:t>
            </a:r>
            <a:endParaRPr/>
          </a:p>
          <a:p>
            <a:pPr indent="-279400" lvl="1" marL="1092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Coin Change (Variations)</a:t>
            </a:r>
            <a:endParaRPr/>
          </a:p>
        </p:txBody>
      </p:sp>
      <p:sp>
        <p:nvSpPr>
          <p:cNvPr id="186" name="Google Shape;186;p7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only use each coins only once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coins has limited supply (Can be different for each coin type)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Only allowed to use k coins (all together)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Coin Change (Minimum Number of coins)</a:t>
            </a:r>
            <a:endParaRPr/>
          </a:p>
        </p:txBody>
      </p:sp>
      <p:sp>
        <p:nvSpPr>
          <p:cNvPr id="192" name="Google Shape;192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Your goal is to find the minimum number of coins required, to give an exchange of a target (sum) by using n coins having values: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 coins[] = {c1, c2, c3….cn}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Recurrence Relation</a:t>
            </a:r>
            <a:endParaRPr/>
          </a:p>
        </p:txBody>
      </p:sp>
      <p:sp>
        <p:nvSpPr>
          <p:cNvPr id="198" name="Google Shape;198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Smaller sub problems and the relation between them 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Recurrence Relation</a:t>
            </a:r>
            <a:endParaRPr/>
          </a:p>
        </p:txBody>
      </p:sp>
      <p:sp>
        <p:nvSpPr>
          <p:cNvPr id="204" name="Google Shape;204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&lt; Excluding n</a:t>
            </a:r>
            <a:r>
              <a:rPr b="1" baseline="30000" lang="en-US"/>
              <a:t>th</a:t>
            </a:r>
            <a:r>
              <a:rPr b="1" lang="en-US"/>
              <a:t> coins and including n</a:t>
            </a:r>
            <a:r>
              <a:rPr b="1" baseline="30000" lang="en-US"/>
              <a:t>th</a:t>
            </a:r>
            <a:r>
              <a:rPr b="1" lang="en-US"/>
              <a:t> coins&gt;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Eexcluding: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dp[n-1][sum]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Including: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 + dp[n] [ sum – coins[n] ]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Relation between them?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Coin Change (Minimum Number of coins)</a:t>
            </a:r>
            <a:endParaRPr/>
          </a:p>
        </p:txBody>
      </p:sp>
      <p:sp>
        <p:nvSpPr>
          <p:cNvPr id="210" name="Google Shape;210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&lt; Excluding n</a:t>
            </a:r>
            <a:r>
              <a:rPr b="1" baseline="30000" lang="en-US"/>
              <a:t>th</a:t>
            </a:r>
            <a:r>
              <a:rPr b="1" lang="en-US"/>
              <a:t> coins and including n</a:t>
            </a:r>
            <a:r>
              <a:rPr b="1" baseline="30000" lang="en-US"/>
              <a:t>th</a:t>
            </a:r>
            <a:r>
              <a:rPr b="1" lang="en-US"/>
              <a:t> coins&gt;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Eexcluding: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dp[n-1][sum]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Including: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 + dp[n] [ sum – coins[n] ]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min (excluding, including)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3"/>
          <p:cNvSpPr txBox="1"/>
          <p:nvPr>
            <p:ph type="title"/>
          </p:nvPr>
        </p:nvSpPr>
        <p:spPr>
          <a:xfrm>
            <a:off x="838200" y="2593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Coin Change (Minimum number of coins)</a:t>
            </a:r>
            <a:endParaRPr/>
          </a:p>
        </p:txBody>
      </p:sp>
      <p:graphicFrame>
        <p:nvGraphicFramePr>
          <p:cNvPr id="216" name="Google Shape;216;p43"/>
          <p:cNvGraphicFramePr/>
          <p:nvPr/>
        </p:nvGraphicFramePr>
        <p:xfrm>
          <a:off x="1931332" y="18689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{B4A57898-3CD7-4A0C-B162-55E7D0C1B676}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" name="Google Shape;217;p43"/>
          <p:cNvSpPr txBox="1"/>
          <p:nvPr/>
        </p:nvSpPr>
        <p:spPr>
          <a:xfrm>
            <a:off x="1023670" y="1854025"/>
            <a:ext cx="746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coin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3"/>
          <p:cNvSpPr txBox="1"/>
          <p:nvPr/>
        </p:nvSpPr>
        <p:spPr>
          <a:xfrm>
            <a:off x="1931332" y="1493230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3"/>
          <p:cNvSpPr txBox="1"/>
          <p:nvPr/>
        </p:nvSpPr>
        <p:spPr>
          <a:xfrm>
            <a:off x="2963403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3"/>
          <p:cNvSpPr txBox="1"/>
          <p:nvPr/>
        </p:nvSpPr>
        <p:spPr>
          <a:xfrm>
            <a:off x="4073980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3"/>
          <p:cNvSpPr txBox="1"/>
          <p:nvPr/>
        </p:nvSpPr>
        <p:spPr>
          <a:xfrm>
            <a:off x="990907" y="2202028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3"/>
          <p:cNvSpPr txBox="1"/>
          <p:nvPr/>
        </p:nvSpPr>
        <p:spPr>
          <a:xfrm>
            <a:off x="990907" y="2583095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170409" y="2964162"/>
            <a:ext cx="83676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1042736" y="4466426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5210468" y="1411224"/>
            <a:ext cx="172268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           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9098284" y="1484693"/>
            <a:ext cx="1022681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=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4"/>
          <p:cNvSpPr txBox="1"/>
          <p:nvPr>
            <p:ph type="title"/>
          </p:nvPr>
        </p:nvSpPr>
        <p:spPr>
          <a:xfrm>
            <a:off x="838200" y="2593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Coin Change (Minimum number of coins)</a:t>
            </a:r>
            <a:endParaRPr/>
          </a:p>
        </p:txBody>
      </p:sp>
      <p:graphicFrame>
        <p:nvGraphicFramePr>
          <p:cNvPr id="232" name="Google Shape;232;p44"/>
          <p:cNvGraphicFramePr/>
          <p:nvPr/>
        </p:nvGraphicFramePr>
        <p:xfrm>
          <a:off x="1931332" y="18689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{B4A57898-3CD7-4A0C-B162-55E7D0C1B676}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3" name="Google Shape;233;p44"/>
          <p:cNvSpPr txBox="1"/>
          <p:nvPr/>
        </p:nvSpPr>
        <p:spPr>
          <a:xfrm>
            <a:off x="1023670" y="1854025"/>
            <a:ext cx="746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coin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4"/>
          <p:cNvSpPr txBox="1"/>
          <p:nvPr/>
        </p:nvSpPr>
        <p:spPr>
          <a:xfrm>
            <a:off x="1931332" y="1493230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4"/>
          <p:cNvSpPr txBox="1"/>
          <p:nvPr/>
        </p:nvSpPr>
        <p:spPr>
          <a:xfrm>
            <a:off x="2963403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4"/>
          <p:cNvSpPr txBox="1"/>
          <p:nvPr/>
        </p:nvSpPr>
        <p:spPr>
          <a:xfrm>
            <a:off x="4073980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4"/>
          <p:cNvSpPr txBox="1"/>
          <p:nvPr/>
        </p:nvSpPr>
        <p:spPr>
          <a:xfrm>
            <a:off x="990907" y="2202028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4"/>
          <p:cNvSpPr txBox="1"/>
          <p:nvPr/>
        </p:nvSpPr>
        <p:spPr>
          <a:xfrm>
            <a:off x="990907" y="2583095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4"/>
          <p:cNvSpPr txBox="1"/>
          <p:nvPr/>
        </p:nvSpPr>
        <p:spPr>
          <a:xfrm>
            <a:off x="1170409" y="2964162"/>
            <a:ext cx="83676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4"/>
          <p:cNvSpPr txBox="1"/>
          <p:nvPr/>
        </p:nvSpPr>
        <p:spPr>
          <a:xfrm>
            <a:off x="1042736" y="4466426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4"/>
          <p:cNvSpPr txBox="1"/>
          <p:nvPr/>
        </p:nvSpPr>
        <p:spPr>
          <a:xfrm>
            <a:off x="5210468" y="1411224"/>
            <a:ext cx="172268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           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4"/>
          <p:cNvSpPr txBox="1"/>
          <p:nvPr/>
        </p:nvSpPr>
        <p:spPr>
          <a:xfrm>
            <a:off x="9098284" y="1484693"/>
            <a:ext cx="1022681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=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 txBox="1"/>
          <p:nvPr>
            <p:ph type="title"/>
          </p:nvPr>
        </p:nvSpPr>
        <p:spPr>
          <a:xfrm>
            <a:off x="838200" y="2593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Coin Change (Minimum number of coins)</a:t>
            </a:r>
            <a:endParaRPr/>
          </a:p>
        </p:txBody>
      </p:sp>
      <p:graphicFrame>
        <p:nvGraphicFramePr>
          <p:cNvPr id="248" name="Google Shape;248;p45"/>
          <p:cNvGraphicFramePr/>
          <p:nvPr/>
        </p:nvGraphicFramePr>
        <p:xfrm>
          <a:off x="1931332" y="18689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{B4A57898-3CD7-4A0C-B162-55E7D0C1B676}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9" name="Google Shape;249;p45"/>
          <p:cNvSpPr txBox="1"/>
          <p:nvPr/>
        </p:nvSpPr>
        <p:spPr>
          <a:xfrm>
            <a:off x="1023670" y="1854025"/>
            <a:ext cx="746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coin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5"/>
          <p:cNvSpPr txBox="1"/>
          <p:nvPr/>
        </p:nvSpPr>
        <p:spPr>
          <a:xfrm>
            <a:off x="1931332" y="1493230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5"/>
          <p:cNvSpPr txBox="1"/>
          <p:nvPr/>
        </p:nvSpPr>
        <p:spPr>
          <a:xfrm>
            <a:off x="2963403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5"/>
          <p:cNvSpPr txBox="1"/>
          <p:nvPr/>
        </p:nvSpPr>
        <p:spPr>
          <a:xfrm>
            <a:off x="4073980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5"/>
          <p:cNvSpPr txBox="1"/>
          <p:nvPr/>
        </p:nvSpPr>
        <p:spPr>
          <a:xfrm>
            <a:off x="990907" y="2202028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5"/>
          <p:cNvSpPr txBox="1"/>
          <p:nvPr/>
        </p:nvSpPr>
        <p:spPr>
          <a:xfrm>
            <a:off x="990907" y="2583095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5"/>
          <p:cNvSpPr txBox="1"/>
          <p:nvPr/>
        </p:nvSpPr>
        <p:spPr>
          <a:xfrm>
            <a:off x="1170409" y="2964162"/>
            <a:ext cx="83676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5"/>
          <p:cNvSpPr txBox="1"/>
          <p:nvPr/>
        </p:nvSpPr>
        <p:spPr>
          <a:xfrm>
            <a:off x="1042736" y="4466426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coins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5"/>
          <p:cNvSpPr txBox="1"/>
          <p:nvPr/>
        </p:nvSpPr>
        <p:spPr>
          <a:xfrm>
            <a:off x="5210468" y="1411224"/>
            <a:ext cx="172268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           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5"/>
          <p:cNvSpPr txBox="1"/>
          <p:nvPr/>
        </p:nvSpPr>
        <p:spPr>
          <a:xfrm>
            <a:off x="9098284" y="1484693"/>
            <a:ext cx="1022681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=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Bottom up implementation 1</a:t>
            </a:r>
            <a:endParaRPr/>
          </a:p>
        </p:txBody>
      </p:sp>
      <p:sp>
        <p:nvSpPr>
          <p:cNvPr id="264" name="Google Shape;264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(i = 0; i &lt;= n ; i++)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for (j = 0; j &lt;= sum; j++)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77777"/>
              <a:buNone/>
            </a:pPr>
            <a:r>
              <a:rPr lang="en-US"/>
              <a:t>	if(j==0) dp[i][j] = 0; </a:t>
            </a:r>
            <a:r>
              <a:rPr lang="en-US" sz="2100"/>
              <a:t>//Can be initialized outside loop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else if(i==0) dp[i][j] = INF; </a:t>
            </a:r>
            <a:r>
              <a:rPr lang="en-US" sz="2100"/>
              <a:t>//Can be initialized outside loop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else if(j &lt; coins[i </a:t>
            </a:r>
            <a:r>
              <a:rPr b="1" lang="en-US">
                <a:solidFill>
                  <a:srgbClr val="FF0000"/>
                </a:solidFill>
              </a:rPr>
              <a:t>- 1</a:t>
            </a:r>
            <a:r>
              <a:rPr lang="en-US"/>
              <a:t>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dp[i][j] =  dp[i-1][j];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else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dp[i][j] = min( dp[i-1][j], 1 +dp[i] [ j – coins[i </a:t>
            </a:r>
            <a:r>
              <a:rPr b="1" lang="en-US">
                <a:solidFill>
                  <a:srgbClr val="FF0000"/>
                </a:solidFill>
              </a:rPr>
              <a:t>- 1</a:t>
            </a:r>
            <a:r>
              <a:rPr lang="en-US"/>
              <a:t>] ] );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Knapsack Problem [0-1]</a:t>
            </a:r>
            <a:endParaRPr/>
          </a:p>
        </p:txBody>
      </p:sp>
      <p:sp>
        <p:nvSpPr>
          <p:cNvPr id="270" name="Google Shape;270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Given weights </a:t>
            </a:r>
            <a:r>
              <a:rPr b="1" lang="en-US">
                <a:solidFill>
                  <a:srgbClr val="0070C0"/>
                </a:solidFill>
              </a:rPr>
              <a:t>and</a:t>
            </a:r>
            <a:r>
              <a:rPr lang="en-US"/>
              <a:t> values of N items, put these items in a knapsack of capacity W to get the maximum total value in the knapsack.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Knapsack Problem [0-1]</a:t>
            </a:r>
            <a:endParaRPr/>
          </a:p>
        </p:txBody>
      </p:sp>
      <p:sp>
        <p:nvSpPr>
          <p:cNvPr id="276" name="Google Shape;276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Input: N = 3, W = 4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values[] = {1,2,3}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weight[] = {4,5,1}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Output: 3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Input: N = 3, W = 3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values[] = {1,2,3}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weight[] = {4,5,6}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Output: 0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Recurrence Relation</a:t>
            </a:r>
            <a:endParaRPr/>
          </a:p>
        </p:txBody>
      </p:sp>
      <p:sp>
        <p:nvSpPr>
          <p:cNvPr id="282" name="Google Shape;282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Smaller sub problems and the relation between them 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Recurrence Relation</a:t>
            </a:r>
            <a:endParaRPr/>
          </a:p>
        </p:txBody>
      </p:sp>
      <p:sp>
        <p:nvSpPr>
          <p:cNvPr id="288" name="Google Shape;288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Smaller sub problems and the relation between them 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dp[i][w] = max(</a:t>
            </a:r>
            <a:r>
              <a:rPr lang="en-US" sz="2000">
                <a:solidFill>
                  <a:schemeClr val="accent1"/>
                </a:solidFill>
              </a:rPr>
              <a:t>val[i] + dp[i - 1][w - wt[i ]],   </a:t>
            </a:r>
            <a:r>
              <a:rPr lang="en-US" sz="2000">
                <a:solidFill>
                  <a:schemeClr val="accent6"/>
                </a:solidFill>
              </a:rPr>
              <a:t>dp[i - 1][w]</a:t>
            </a:r>
            <a:r>
              <a:rPr lang="en-US" sz="2000"/>
              <a:t>);</a:t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1"/>
          <p:cNvSpPr txBox="1"/>
          <p:nvPr>
            <p:ph type="title"/>
          </p:nvPr>
        </p:nvSpPr>
        <p:spPr>
          <a:xfrm>
            <a:off x="838200" y="2593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Knapsack Problem [0-1]</a:t>
            </a:r>
            <a:endParaRPr/>
          </a:p>
        </p:txBody>
      </p:sp>
      <p:graphicFrame>
        <p:nvGraphicFramePr>
          <p:cNvPr id="294" name="Google Shape;294;p51"/>
          <p:cNvGraphicFramePr/>
          <p:nvPr/>
        </p:nvGraphicFramePr>
        <p:xfrm>
          <a:off x="1931332" y="18689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{B4A57898-3CD7-4A0C-B162-55E7D0C1B676}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5" name="Google Shape;295;p51"/>
          <p:cNvSpPr txBox="1"/>
          <p:nvPr/>
        </p:nvSpPr>
        <p:spPr>
          <a:xfrm>
            <a:off x="1023670" y="1854025"/>
            <a:ext cx="746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obj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1"/>
          <p:cNvSpPr txBox="1"/>
          <p:nvPr/>
        </p:nvSpPr>
        <p:spPr>
          <a:xfrm>
            <a:off x="1931332" y="1493230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1"/>
          <p:cNvSpPr txBox="1"/>
          <p:nvPr/>
        </p:nvSpPr>
        <p:spPr>
          <a:xfrm>
            <a:off x="2963403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1"/>
          <p:cNvSpPr txBox="1"/>
          <p:nvPr/>
        </p:nvSpPr>
        <p:spPr>
          <a:xfrm>
            <a:off x="4073980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1"/>
          <p:cNvSpPr txBox="1"/>
          <p:nvPr/>
        </p:nvSpPr>
        <p:spPr>
          <a:xfrm>
            <a:off x="990907" y="2202028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obj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1"/>
          <p:cNvSpPr txBox="1"/>
          <p:nvPr/>
        </p:nvSpPr>
        <p:spPr>
          <a:xfrm>
            <a:off x="990907" y="2583095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obj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1"/>
          <p:cNvSpPr txBox="1"/>
          <p:nvPr/>
        </p:nvSpPr>
        <p:spPr>
          <a:xfrm>
            <a:off x="1170409" y="2964162"/>
            <a:ext cx="83676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1"/>
          <p:cNvSpPr txBox="1"/>
          <p:nvPr/>
        </p:nvSpPr>
        <p:spPr>
          <a:xfrm>
            <a:off x="1042736" y="4466426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obj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1"/>
          <p:cNvSpPr txBox="1"/>
          <p:nvPr/>
        </p:nvSpPr>
        <p:spPr>
          <a:xfrm>
            <a:off x="5210468" y="1411224"/>
            <a:ext cx="172268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           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1"/>
          <p:cNvSpPr txBox="1"/>
          <p:nvPr/>
        </p:nvSpPr>
        <p:spPr>
          <a:xfrm>
            <a:off x="9098284" y="1484693"/>
            <a:ext cx="1022681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 =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2"/>
          <p:cNvSpPr txBox="1"/>
          <p:nvPr>
            <p:ph type="title"/>
          </p:nvPr>
        </p:nvSpPr>
        <p:spPr>
          <a:xfrm>
            <a:off x="838200" y="2593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Knapsack Problem [0-1]</a:t>
            </a:r>
            <a:endParaRPr/>
          </a:p>
        </p:txBody>
      </p:sp>
      <p:graphicFrame>
        <p:nvGraphicFramePr>
          <p:cNvPr id="310" name="Google Shape;310;p52"/>
          <p:cNvGraphicFramePr/>
          <p:nvPr/>
        </p:nvGraphicFramePr>
        <p:xfrm>
          <a:off x="1931332" y="18689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{B4A57898-3CD7-4A0C-B162-55E7D0C1B676}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1" name="Google Shape;311;p52"/>
          <p:cNvSpPr txBox="1"/>
          <p:nvPr/>
        </p:nvSpPr>
        <p:spPr>
          <a:xfrm>
            <a:off x="1023670" y="1854025"/>
            <a:ext cx="746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obj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2"/>
          <p:cNvSpPr txBox="1"/>
          <p:nvPr/>
        </p:nvSpPr>
        <p:spPr>
          <a:xfrm>
            <a:off x="1931332" y="1493230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2"/>
          <p:cNvSpPr txBox="1"/>
          <p:nvPr/>
        </p:nvSpPr>
        <p:spPr>
          <a:xfrm>
            <a:off x="2963403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2"/>
          <p:cNvSpPr txBox="1"/>
          <p:nvPr/>
        </p:nvSpPr>
        <p:spPr>
          <a:xfrm>
            <a:off x="4073980" y="1484693"/>
            <a:ext cx="934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2"/>
          <p:cNvSpPr txBox="1"/>
          <p:nvPr/>
        </p:nvSpPr>
        <p:spPr>
          <a:xfrm>
            <a:off x="990907" y="2202028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obj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2"/>
          <p:cNvSpPr txBox="1"/>
          <p:nvPr/>
        </p:nvSpPr>
        <p:spPr>
          <a:xfrm>
            <a:off x="990907" y="2583095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obj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2"/>
          <p:cNvSpPr txBox="1"/>
          <p:nvPr/>
        </p:nvSpPr>
        <p:spPr>
          <a:xfrm>
            <a:off x="1170409" y="2964162"/>
            <a:ext cx="83676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2"/>
          <p:cNvSpPr txBox="1"/>
          <p:nvPr/>
        </p:nvSpPr>
        <p:spPr>
          <a:xfrm>
            <a:off x="1042736" y="4466426"/>
            <a:ext cx="836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obj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52"/>
          <p:cNvSpPr txBox="1"/>
          <p:nvPr/>
        </p:nvSpPr>
        <p:spPr>
          <a:xfrm>
            <a:off x="5210468" y="1411224"/>
            <a:ext cx="172268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           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2"/>
          <p:cNvSpPr txBox="1"/>
          <p:nvPr/>
        </p:nvSpPr>
        <p:spPr>
          <a:xfrm>
            <a:off x="9098284" y="1484693"/>
            <a:ext cx="1022681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 =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Knapsack Problem Variations</a:t>
            </a:r>
            <a:endParaRPr/>
          </a:p>
        </p:txBody>
      </p:sp>
      <p:sp>
        <p:nvSpPr>
          <p:cNvPr id="326" name="Google Shape;326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Each object has unlimited supply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You may take a fraction of a object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2023-01-24T18:58:01Z</dcterms:created>
  <dc:creator>Md. Maniruzzaman, Assistant Professor, CSE</dc:creator>
</cp:coreProperties>
</file>